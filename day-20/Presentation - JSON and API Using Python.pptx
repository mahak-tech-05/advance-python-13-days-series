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Gatwick Ultra-Bold" charset="1" panose="00000900000000000000"/>
      <p:regular r:id="rId18"/>
    </p:embeddedFont>
    <p:embeddedFont>
      <p:font typeface="Codec Pro Ultra-Bold" charset="1" panose="00000700000000000000"/>
      <p:regular r:id="rId19"/>
    </p:embeddedFont>
    <p:embeddedFont>
      <p:font typeface="Codec Pro" charset="1" panose="00000500000000000000"/>
      <p:regular r:id="rId20"/>
    </p:embeddedFont>
    <p:embeddedFont>
      <p:font typeface="Codec Pro Bold" charset="1" panose="000006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 Id="rId4"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226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2E30A0"/>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0A2269"/>
            </a:solidFill>
          </p:spPr>
        </p:sp>
      </p:grpSp>
      <p:grpSp>
        <p:nvGrpSpPr>
          <p:cNvPr name="Group 5" id="5"/>
          <p:cNvGrpSpPr/>
          <p:nvPr/>
        </p:nvGrpSpPr>
        <p:grpSpPr>
          <a:xfrm rot="0">
            <a:off x="10095507" y="1171470"/>
            <a:ext cx="6898579" cy="7848810"/>
            <a:chOff x="0" y="0"/>
            <a:chExt cx="1078972" cy="1227593"/>
          </a:xfrm>
        </p:grpSpPr>
        <p:sp>
          <p:nvSpPr>
            <p:cNvPr name="Freeform 6" id="6"/>
            <p:cNvSpPr/>
            <p:nvPr/>
          </p:nvSpPr>
          <p:spPr>
            <a:xfrm flipH="false" flipV="false" rot="0">
              <a:off x="0" y="0"/>
              <a:ext cx="1078972" cy="1227593"/>
            </a:xfrm>
            <a:custGeom>
              <a:avLst/>
              <a:gdLst/>
              <a:ahLst/>
              <a:cxnLst/>
              <a:rect r="r" b="b" t="t" l="l"/>
              <a:pathLst>
                <a:path h="1227593" w="1078972">
                  <a:moveTo>
                    <a:pt x="56112" y="0"/>
                  </a:moveTo>
                  <a:lnTo>
                    <a:pt x="1022860" y="0"/>
                  </a:lnTo>
                  <a:cubicBezTo>
                    <a:pt x="1053850" y="0"/>
                    <a:pt x="1078972" y="25122"/>
                    <a:pt x="1078972" y="56112"/>
                  </a:cubicBezTo>
                  <a:lnTo>
                    <a:pt x="1078972" y="1171481"/>
                  </a:lnTo>
                  <a:cubicBezTo>
                    <a:pt x="1078972" y="1202471"/>
                    <a:pt x="1053850" y="1227593"/>
                    <a:pt x="1022860" y="1227593"/>
                  </a:cubicBezTo>
                  <a:lnTo>
                    <a:pt x="56112" y="1227593"/>
                  </a:lnTo>
                  <a:cubicBezTo>
                    <a:pt x="25122" y="1227593"/>
                    <a:pt x="0" y="1202471"/>
                    <a:pt x="0" y="1171481"/>
                  </a:cubicBezTo>
                  <a:lnTo>
                    <a:pt x="0" y="56112"/>
                  </a:lnTo>
                  <a:cubicBezTo>
                    <a:pt x="0" y="25122"/>
                    <a:pt x="25122" y="0"/>
                    <a:pt x="56112" y="0"/>
                  </a:cubicBezTo>
                  <a:close/>
                </a:path>
              </a:pathLst>
            </a:custGeom>
            <a:blipFill>
              <a:blip r:embed="rId2"/>
              <a:stretch>
                <a:fillRect l="0" t="-153" r="0" b="-153"/>
              </a:stretch>
            </a:blipFill>
            <a:ln w="38100" cap="rnd">
              <a:solidFill>
                <a:srgbClr val="000000"/>
              </a:solidFill>
              <a:prstDash val="solid"/>
              <a:round/>
            </a:ln>
          </p:spPr>
        </p:sp>
      </p:grpSp>
      <p:sp>
        <p:nvSpPr>
          <p:cNvPr name="TextBox 7" id="7"/>
          <p:cNvSpPr txBox="true"/>
          <p:nvPr/>
        </p:nvSpPr>
        <p:spPr>
          <a:xfrm rot="0">
            <a:off x="1800225" y="3233758"/>
            <a:ext cx="7496175" cy="3476625"/>
          </a:xfrm>
          <a:prstGeom prst="rect">
            <a:avLst/>
          </a:prstGeom>
        </p:spPr>
        <p:txBody>
          <a:bodyPr anchor="t" rtlCol="false" tIns="0" lIns="0" bIns="0" rIns="0">
            <a:spAutoFit/>
          </a:bodyPr>
          <a:lstStyle/>
          <a:p>
            <a:pPr algn="ctr" marL="0" indent="0" lvl="0">
              <a:lnSpc>
                <a:spcPts val="8999"/>
              </a:lnSpc>
            </a:pPr>
            <a:r>
              <a:rPr lang="en-US" b="true" sz="7499" spc="-187">
                <a:solidFill>
                  <a:srgbClr val="AE9BFB"/>
                </a:solidFill>
                <a:latin typeface="Gatwick Ultra-Bold"/>
                <a:ea typeface="Gatwick Ultra-Bold"/>
                <a:cs typeface="Gatwick Ultra-Bold"/>
                <a:sym typeface="Gatwick Ultra-Bold"/>
              </a:rPr>
              <a:t>JSON and API Using Python</a:t>
            </a:r>
          </a:p>
        </p:txBody>
      </p:sp>
      <p:sp>
        <p:nvSpPr>
          <p:cNvPr name="TextBox 8" id="8"/>
          <p:cNvSpPr txBox="true"/>
          <p:nvPr/>
        </p:nvSpPr>
        <p:spPr>
          <a:xfrm rot="0">
            <a:off x="1800225" y="1504950"/>
            <a:ext cx="7496175" cy="915670"/>
          </a:xfrm>
          <a:prstGeom prst="rect">
            <a:avLst/>
          </a:prstGeom>
        </p:spPr>
        <p:txBody>
          <a:bodyPr anchor="t" rtlCol="false" tIns="0" lIns="0" bIns="0" rIns="0">
            <a:spAutoFit/>
          </a:bodyPr>
          <a:lstStyle/>
          <a:p>
            <a:pPr algn="ctr" marL="0" indent="0" lvl="0">
              <a:lnSpc>
                <a:spcPts val="3499"/>
              </a:lnSpc>
              <a:spcBef>
                <a:spcPct val="0"/>
              </a:spcBef>
            </a:pPr>
            <a:r>
              <a:rPr lang="en-US" b="true" sz="2799">
                <a:solidFill>
                  <a:srgbClr val="AE9BFB"/>
                </a:solidFill>
                <a:latin typeface="Codec Pro Ultra-Bold"/>
                <a:ea typeface="Codec Pro Ultra-Bold"/>
                <a:cs typeface="Codec Pro Ultra-Bold"/>
                <a:sym typeface="Codec Pro Ultra-Bold"/>
              </a:rPr>
              <a:t>UNDERSTANDING MODERN DATA EXCHANGE</a:t>
            </a:r>
          </a:p>
        </p:txBody>
      </p:sp>
      <p:sp>
        <p:nvSpPr>
          <p:cNvPr name="TextBox 9" id="9"/>
          <p:cNvSpPr txBox="true"/>
          <p:nvPr/>
        </p:nvSpPr>
        <p:spPr>
          <a:xfrm rot="0">
            <a:off x="1800225" y="8247380"/>
            <a:ext cx="7496175" cy="477520"/>
          </a:xfrm>
          <a:prstGeom prst="rect">
            <a:avLst/>
          </a:prstGeom>
        </p:spPr>
        <p:txBody>
          <a:bodyPr anchor="t" rtlCol="false" tIns="0" lIns="0" bIns="0" rIns="0">
            <a:spAutoFit/>
          </a:bodyPr>
          <a:lstStyle/>
          <a:p>
            <a:pPr algn="ctr" marL="0" indent="0" lvl="0">
              <a:lnSpc>
                <a:spcPts val="3499"/>
              </a:lnSpc>
              <a:spcBef>
                <a:spcPct val="0"/>
              </a:spcBef>
            </a:pPr>
            <a:r>
              <a:rPr lang="en-US" b="true" sz="2799">
                <a:solidFill>
                  <a:srgbClr val="AE9BFB"/>
                </a:solidFill>
                <a:latin typeface="Codec Pro Ultra-Bold"/>
                <a:ea typeface="Codec Pro Ultra-Bold"/>
                <a:cs typeface="Codec Pro Ultra-Bold"/>
                <a:sym typeface="Codec Pro Ultra-Bold"/>
              </a:rPr>
              <a:t>A Beginner Programming Guide</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A226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AE9BF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2E30A0"/>
            </a:solidFill>
          </p:spPr>
        </p:sp>
      </p:grpSp>
      <p:sp>
        <p:nvSpPr>
          <p:cNvPr name="TextBox 5" id="5"/>
          <p:cNvSpPr txBox="true"/>
          <p:nvPr/>
        </p:nvSpPr>
        <p:spPr>
          <a:xfrm rot="0">
            <a:off x="2105025" y="4267200"/>
            <a:ext cx="4010025" cy="1695450"/>
          </a:xfrm>
          <a:prstGeom prst="rect">
            <a:avLst/>
          </a:prstGeom>
        </p:spPr>
        <p:txBody>
          <a:bodyPr anchor="t" rtlCol="false" tIns="0" lIns="0" bIns="0" rIns="0">
            <a:spAutoFit/>
          </a:bodyPr>
          <a:lstStyle/>
          <a:p>
            <a:pPr algn="ctr" marL="0" indent="0" lvl="0">
              <a:lnSpc>
                <a:spcPts val="6480"/>
              </a:lnSpc>
            </a:pPr>
            <a:r>
              <a:rPr lang="en-US" b="true" sz="5400" spc="-135">
                <a:solidFill>
                  <a:srgbClr val="0A2269"/>
                </a:solidFill>
                <a:latin typeface="Gatwick Ultra-Bold"/>
                <a:ea typeface="Gatwick Ultra-Bold"/>
                <a:cs typeface="Gatwick Ultra-Bold"/>
                <a:sym typeface="Gatwick Ultra-Bold"/>
              </a:rPr>
              <a:t>What is JSON?</a:t>
            </a:r>
          </a:p>
        </p:txBody>
      </p:sp>
      <p:grpSp>
        <p:nvGrpSpPr>
          <p:cNvPr name="Group 6" id="6"/>
          <p:cNvGrpSpPr/>
          <p:nvPr/>
        </p:nvGrpSpPr>
        <p:grpSpPr>
          <a:xfrm rot="0">
            <a:off x="6909150" y="1562100"/>
            <a:ext cx="9578625" cy="7162800"/>
            <a:chOff x="0" y="0"/>
            <a:chExt cx="2522765" cy="1886499"/>
          </a:xfrm>
        </p:grpSpPr>
        <p:sp>
          <p:nvSpPr>
            <p:cNvPr name="Freeform 7" id="7"/>
            <p:cNvSpPr/>
            <p:nvPr/>
          </p:nvSpPr>
          <p:spPr>
            <a:xfrm flipH="false" flipV="false" rot="0">
              <a:off x="0" y="0"/>
              <a:ext cx="2522765" cy="1886499"/>
            </a:xfrm>
            <a:custGeom>
              <a:avLst/>
              <a:gdLst/>
              <a:ahLst/>
              <a:cxnLst/>
              <a:rect r="r" b="b" t="t" l="l"/>
              <a:pathLst>
                <a:path h="1886499" w="2522765">
                  <a:moveTo>
                    <a:pt x="40412" y="0"/>
                  </a:moveTo>
                  <a:lnTo>
                    <a:pt x="2482353" y="0"/>
                  </a:lnTo>
                  <a:cubicBezTo>
                    <a:pt x="2493071" y="0"/>
                    <a:pt x="2503350" y="4258"/>
                    <a:pt x="2510929" y="11837"/>
                  </a:cubicBezTo>
                  <a:cubicBezTo>
                    <a:pt x="2518508" y="19415"/>
                    <a:pt x="2522765" y="29694"/>
                    <a:pt x="2522765" y="40412"/>
                  </a:cubicBezTo>
                  <a:lnTo>
                    <a:pt x="2522765" y="1846086"/>
                  </a:lnTo>
                  <a:cubicBezTo>
                    <a:pt x="2522765" y="1856804"/>
                    <a:pt x="2518508" y="1867084"/>
                    <a:pt x="2510929" y="1874662"/>
                  </a:cubicBezTo>
                  <a:cubicBezTo>
                    <a:pt x="2503350" y="1882241"/>
                    <a:pt x="2493071" y="1886499"/>
                    <a:pt x="2482353" y="1886499"/>
                  </a:cubicBezTo>
                  <a:lnTo>
                    <a:pt x="40412" y="1886499"/>
                  </a:lnTo>
                  <a:cubicBezTo>
                    <a:pt x="29694" y="1886499"/>
                    <a:pt x="19415" y="1882241"/>
                    <a:pt x="11837" y="1874662"/>
                  </a:cubicBezTo>
                  <a:cubicBezTo>
                    <a:pt x="4258" y="1867084"/>
                    <a:pt x="0" y="1856804"/>
                    <a:pt x="0" y="1846086"/>
                  </a:cubicBezTo>
                  <a:lnTo>
                    <a:pt x="0" y="40412"/>
                  </a:lnTo>
                  <a:cubicBezTo>
                    <a:pt x="0" y="29694"/>
                    <a:pt x="4258" y="19415"/>
                    <a:pt x="11837" y="11837"/>
                  </a:cubicBezTo>
                  <a:cubicBezTo>
                    <a:pt x="19415" y="4258"/>
                    <a:pt x="29694" y="0"/>
                    <a:pt x="40412" y="0"/>
                  </a:cubicBezTo>
                  <a:close/>
                </a:path>
              </a:pathLst>
            </a:custGeom>
            <a:ln w="38100" cap="rnd">
              <a:solidFill>
                <a:srgbClr val="000000"/>
              </a:solidFill>
              <a:prstDash val="solid"/>
              <a:round/>
            </a:ln>
          </p:spPr>
        </p:sp>
        <p:sp>
          <p:nvSpPr>
            <p:cNvPr name="TextBox 8" id="8"/>
            <p:cNvSpPr txBox="true"/>
            <p:nvPr/>
          </p:nvSpPr>
          <p:spPr>
            <a:xfrm>
              <a:off x="0" y="-66675"/>
              <a:ext cx="2522765"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553325" y="3286125"/>
            <a:ext cx="8290275" cy="3550920"/>
          </a:xfrm>
          <a:prstGeom prst="rect">
            <a:avLst/>
          </a:prstGeom>
        </p:spPr>
        <p:txBody>
          <a:bodyPr anchor="t" rtlCol="false" tIns="0" lIns="0" bIns="0" rIns="0">
            <a:spAutoFit/>
          </a:bodyPr>
          <a:lstStyle/>
          <a:p>
            <a:pPr algn="ctr" marL="0" indent="0" lvl="0">
              <a:lnSpc>
                <a:spcPts val="3120"/>
              </a:lnSpc>
            </a:pPr>
            <a:r>
              <a:rPr lang="en-US" sz="2400">
                <a:solidFill>
                  <a:srgbClr val="0A2269"/>
                </a:solidFill>
                <a:latin typeface="Codec Pro"/>
                <a:ea typeface="Codec Pro"/>
                <a:cs typeface="Codec Pro"/>
                <a:sym typeface="Codec Pro"/>
              </a:rPr>
              <a:t>JSON, or </a:t>
            </a:r>
            <a:r>
              <a:rPr lang="en-US" b="true" sz="2400">
                <a:solidFill>
                  <a:srgbClr val="0A2269"/>
                </a:solidFill>
                <a:latin typeface="Codec Pro Bold"/>
                <a:ea typeface="Codec Pro Bold"/>
                <a:cs typeface="Codec Pro Bold"/>
                <a:sym typeface="Codec Pro Bold"/>
              </a:rPr>
              <a:t>JavaScript Object Notation</a:t>
            </a:r>
            <a:r>
              <a:rPr lang="en-US" sz="2400">
                <a:solidFill>
                  <a:srgbClr val="0A2269"/>
                </a:solidFill>
                <a:latin typeface="Codec Pro"/>
                <a:ea typeface="Codec Pro"/>
                <a:cs typeface="Codec Pro"/>
                <a:sym typeface="Codec Pro"/>
              </a:rPr>
              <a:t>, is a lightweight format used to store and exchange data. It organizes information in a simple, readable manner, similar to a digital filing cabinet filled with labeled folders. Each folder contains key-value pairs that make it easy to retrieve and manipulate data. JSON's simplicity and versatility have made it a popular choice for web services and APIs, facilitating seamless data interchange across various programming environments.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226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2E30A0"/>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0A2269"/>
            </a:solidFill>
          </p:spPr>
        </p:sp>
      </p:grpSp>
      <p:grpSp>
        <p:nvGrpSpPr>
          <p:cNvPr name="Group 5" id="5"/>
          <p:cNvGrpSpPr/>
          <p:nvPr/>
        </p:nvGrpSpPr>
        <p:grpSpPr>
          <a:xfrm rot="0">
            <a:off x="1800225" y="3352800"/>
            <a:ext cx="4619625" cy="3231344"/>
            <a:chOff x="0" y="0"/>
            <a:chExt cx="650279" cy="454859"/>
          </a:xfrm>
        </p:grpSpPr>
        <p:sp>
          <p:nvSpPr>
            <p:cNvPr name="Freeform 6" id="6"/>
            <p:cNvSpPr/>
            <p:nvPr/>
          </p:nvSpPr>
          <p:spPr>
            <a:xfrm flipH="false" flipV="false" rot="0">
              <a:off x="0" y="0"/>
              <a:ext cx="650279" cy="454859"/>
            </a:xfrm>
            <a:custGeom>
              <a:avLst/>
              <a:gdLst/>
              <a:ahLst/>
              <a:cxnLst/>
              <a:rect r="r" b="b" t="t" l="l"/>
              <a:pathLst>
                <a:path h="454859" w="650279">
                  <a:moveTo>
                    <a:pt x="83794" y="0"/>
                  </a:moveTo>
                  <a:lnTo>
                    <a:pt x="566485" y="0"/>
                  </a:lnTo>
                  <a:cubicBezTo>
                    <a:pt x="588709" y="0"/>
                    <a:pt x="610022" y="8828"/>
                    <a:pt x="625737" y="24543"/>
                  </a:cubicBezTo>
                  <a:cubicBezTo>
                    <a:pt x="641451" y="40257"/>
                    <a:pt x="650279" y="61570"/>
                    <a:pt x="650279" y="83794"/>
                  </a:cubicBezTo>
                  <a:lnTo>
                    <a:pt x="650279" y="371065"/>
                  </a:lnTo>
                  <a:cubicBezTo>
                    <a:pt x="650279" y="393288"/>
                    <a:pt x="641451" y="414602"/>
                    <a:pt x="625737" y="430316"/>
                  </a:cubicBezTo>
                  <a:cubicBezTo>
                    <a:pt x="610022" y="446030"/>
                    <a:pt x="588709" y="454859"/>
                    <a:pt x="566485" y="454859"/>
                  </a:cubicBezTo>
                  <a:lnTo>
                    <a:pt x="83794" y="454859"/>
                  </a:lnTo>
                  <a:cubicBezTo>
                    <a:pt x="61570" y="454859"/>
                    <a:pt x="40257" y="446030"/>
                    <a:pt x="24543" y="430316"/>
                  </a:cubicBezTo>
                  <a:cubicBezTo>
                    <a:pt x="8828" y="414602"/>
                    <a:pt x="0" y="393288"/>
                    <a:pt x="0" y="371065"/>
                  </a:cubicBezTo>
                  <a:lnTo>
                    <a:pt x="0" y="83794"/>
                  </a:lnTo>
                  <a:cubicBezTo>
                    <a:pt x="0" y="61570"/>
                    <a:pt x="8828" y="40257"/>
                    <a:pt x="24543" y="24543"/>
                  </a:cubicBezTo>
                  <a:cubicBezTo>
                    <a:pt x="40257" y="8828"/>
                    <a:pt x="61570" y="0"/>
                    <a:pt x="83794" y="0"/>
                  </a:cubicBezTo>
                  <a:close/>
                </a:path>
              </a:pathLst>
            </a:custGeom>
            <a:blipFill>
              <a:blip r:embed="rId2"/>
              <a:stretch>
                <a:fillRect l="-232" t="0" r="-232" b="0"/>
              </a:stretch>
            </a:blipFill>
            <a:ln w="38100" cap="rnd">
              <a:solidFill>
                <a:srgbClr val="000000"/>
              </a:solidFill>
              <a:prstDash val="solid"/>
              <a:round/>
            </a:ln>
          </p:spPr>
        </p:sp>
      </p:grpSp>
      <p:grpSp>
        <p:nvGrpSpPr>
          <p:cNvPr name="Group 7" id="7"/>
          <p:cNvGrpSpPr/>
          <p:nvPr/>
        </p:nvGrpSpPr>
        <p:grpSpPr>
          <a:xfrm rot="0">
            <a:off x="6834188" y="3352800"/>
            <a:ext cx="4619625" cy="3231344"/>
            <a:chOff x="0" y="0"/>
            <a:chExt cx="650279" cy="454859"/>
          </a:xfrm>
        </p:grpSpPr>
        <p:sp>
          <p:nvSpPr>
            <p:cNvPr name="Freeform 8" id="8"/>
            <p:cNvSpPr/>
            <p:nvPr/>
          </p:nvSpPr>
          <p:spPr>
            <a:xfrm flipH="false" flipV="false" rot="0">
              <a:off x="0" y="0"/>
              <a:ext cx="650279" cy="454859"/>
            </a:xfrm>
            <a:custGeom>
              <a:avLst/>
              <a:gdLst/>
              <a:ahLst/>
              <a:cxnLst/>
              <a:rect r="r" b="b" t="t" l="l"/>
              <a:pathLst>
                <a:path h="454859" w="650279">
                  <a:moveTo>
                    <a:pt x="83794" y="0"/>
                  </a:moveTo>
                  <a:lnTo>
                    <a:pt x="566485" y="0"/>
                  </a:lnTo>
                  <a:cubicBezTo>
                    <a:pt x="588709" y="0"/>
                    <a:pt x="610022" y="8828"/>
                    <a:pt x="625737" y="24543"/>
                  </a:cubicBezTo>
                  <a:cubicBezTo>
                    <a:pt x="641451" y="40257"/>
                    <a:pt x="650279" y="61570"/>
                    <a:pt x="650279" y="83794"/>
                  </a:cubicBezTo>
                  <a:lnTo>
                    <a:pt x="650279" y="371065"/>
                  </a:lnTo>
                  <a:cubicBezTo>
                    <a:pt x="650279" y="393288"/>
                    <a:pt x="641451" y="414602"/>
                    <a:pt x="625737" y="430316"/>
                  </a:cubicBezTo>
                  <a:cubicBezTo>
                    <a:pt x="610022" y="446030"/>
                    <a:pt x="588709" y="454859"/>
                    <a:pt x="566485" y="454859"/>
                  </a:cubicBezTo>
                  <a:lnTo>
                    <a:pt x="83794" y="454859"/>
                  </a:lnTo>
                  <a:cubicBezTo>
                    <a:pt x="61570" y="454859"/>
                    <a:pt x="40257" y="446030"/>
                    <a:pt x="24543" y="430316"/>
                  </a:cubicBezTo>
                  <a:cubicBezTo>
                    <a:pt x="8828" y="414602"/>
                    <a:pt x="0" y="393288"/>
                    <a:pt x="0" y="371065"/>
                  </a:cubicBezTo>
                  <a:lnTo>
                    <a:pt x="0" y="83794"/>
                  </a:lnTo>
                  <a:cubicBezTo>
                    <a:pt x="0" y="61570"/>
                    <a:pt x="8828" y="40257"/>
                    <a:pt x="24543" y="24543"/>
                  </a:cubicBezTo>
                  <a:cubicBezTo>
                    <a:pt x="40257" y="8828"/>
                    <a:pt x="61570" y="0"/>
                    <a:pt x="83794" y="0"/>
                  </a:cubicBezTo>
                  <a:close/>
                </a:path>
              </a:pathLst>
            </a:custGeom>
            <a:blipFill>
              <a:blip r:embed="rId3"/>
              <a:stretch>
                <a:fillRect l="-232" t="0" r="-232" b="0"/>
              </a:stretch>
            </a:blipFill>
            <a:ln w="38100" cap="rnd">
              <a:solidFill>
                <a:srgbClr val="000000"/>
              </a:solidFill>
              <a:prstDash val="solid"/>
              <a:round/>
            </a:ln>
          </p:spPr>
        </p:sp>
      </p:grpSp>
      <p:grpSp>
        <p:nvGrpSpPr>
          <p:cNvPr name="Group 9" id="9"/>
          <p:cNvGrpSpPr/>
          <p:nvPr/>
        </p:nvGrpSpPr>
        <p:grpSpPr>
          <a:xfrm rot="0">
            <a:off x="11865501" y="3352800"/>
            <a:ext cx="4623063" cy="3231344"/>
            <a:chOff x="0" y="0"/>
            <a:chExt cx="650763" cy="454859"/>
          </a:xfrm>
        </p:grpSpPr>
        <p:sp>
          <p:nvSpPr>
            <p:cNvPr name="Freeform 10" id="10"/>
            <p:cNvSpPr/>
            <p:nvPr/>
          </p:nvSpPr>
          <p:spPr>
            <a:xfrm flipH="false" flipV="false" rot="0">
              <a:off x="0" y="0"/>
              <a:ext cx="650763" cy="454859"/>
            </a:xfrm>
            <a:custGeom>
              <a:avLst/>
              <a:gdLst/>
              <a:ahLst/>
              <a:cxnLst/>
              <a:rect r="r" b="b" t="t" l="l"/>
              <a:pathLst>
                <a:path h="454859" w="650763">
                  <a:moveTo>
                    <a:pt x="83732" y="0"/>
                  </a:moveTo>
                  <a:lnTo>
                    <a:pt x="567032" y="0"/>
                  </a:lnTo>
                  <a:cubicBezTo>
                    <a:pt x="589239" y="0"/>
                    <a:pt x="610536" y="8822"/>
                    <a:pt x="626239" y="24524"/>
                  </a:cubicBezTo>
                  <a:cubicBezTo>
                    <a:pt x="641941" y="40227"/>
                    <a:pt x="650763" y="61525"/>
                    <a:pt x="650763" y="83732"/>
                  </a:cubicBezTo>
                  <a:lnTo>
                    <a:pt x="650763" y="371127"/>
                  </a:lnTo>
                  <a:cubicBezTo>
                    <a:pt x="650763" y="393334"/>
                    <a:pt x="641941" y="414631"/>
                    <a:pt x="626239" y="430334"/>
                  </a:cubicBezTo>
                  <a:cubicBezTo>
                    <a:pt x="610536" y="446037"/>
                    <a:pt x="589239" y="454859"/>
                    <a:pt x="567032" y="454859"/>
                  </a:cubicBezTo>
                  <a:lnTo>
                    <a:pt x="83732" y="454859"/>
                  </a:lnTo>
                  <a:cubicBezTo>
                    <a:pt x="61525" y="454859"/>
                    <a:pt x="40227" y="446037"/>
                    <a:pt x="24524" y="430334"/>
                  </a:cubicBezTo>
                  <a:cubicBezTo>
                    <a:pt x="8822" y="414631"/>
                    <a:pt x="0" y="393334"/>
                    <a:pt x="0" y="371127"/>
                  </a:cubicBezTo>
                  <a:lnTo>
                    <a:pt x="0" y="83732"/>
                  </a:lnTo>
                  <a:cubicBezTo>
                    <a:pt x="0" y="61525"/>
                    <a:pt x="8822" y="40227"/>
                    <a:pt x="24524" y="24524"/>
                  </a:cubicBezTo>
                  <a:cubicBezTo>
                    <a:pt x="40227" y="8822"/>
                    <a:pt x="61525" y="0"/>
                    <a:pt x="83732" y="0"/>
                  </a:cubicBezTo>
                  <a:close/>
                </a:path>
              </a:pathLst>
            </a:custGeom>
            <a:blipFill>
              <a:blip r:embed="rId4"/>
              <a:stretch>
                <a:fillRect l="-194" t="0" r="-194" b="0"/>
              </a:stretch>
            </a:blipFill>
            <a:ln w="38100" cap="rnd">
              <a:solidFill>
                <a:srgbClr val="000000"/>
              </a:solidFill>
              <a:prstDash val="solid"/>
              <a:round/>
            </a:ln>
          </p:spPr>
        </p:sp>
      </p:grpSp>
      <p:grpSp>
        <p:nvGrpSpPr>
          <p:cNvPr name="Group 11" id="11"/>
          <p:cNvGrpSpPr/>
          <p:nvPr/>
        </p:nvGrpSpPr>
        <p:grpSpPr>
          <a:xfrm rot="0">
            <a:off x="1800225" y="6934200"/>
            <a:ext cx="4619625" cy="1196340"/>
            <a:chOff x="0" y="0"/>
            <a:chExt cx="6159500" cy="1595120"/>
          </a:xfrm>
        </p:grpSpPr>
        <p:sp>
          <p:nvSpPr>
            <p:cNvPr name="TextBox 12" id="12"/>
            <p:cNvSpPr txBox="true"/>
            <p:nvPr/>
          </p:nvSpPr>
          <p:spPr>
            <a:xfrm rot="0">
              <a:off x="0" y="527685"/>
              <a:ext cx="6159500" cy="1067435"/>
            </a:xfrm>
            <a:prstGeom prst="rect">
              <a:avLst/>
            </a:prstGeom>
          </p:spPr>
          <p:txBody>
            <a:bodyPr anchor="t" rtlCol="false" tIns="0" lIns="0" bIns="0" rIns="0">
              <a:spAutoFit/>
            </a:bodyPr>
            <a:lstStyle/>
            <a:p>
              <a:pPr algn="ctr" marL="0" indent="0" lvl="0">
                <a:lnSpc>
                  <a:spcPts val="3120"/>
                </a:lnSpc>
              </a:pPr>
              <a:r>
                <a:rPr lang="en-US" sz="2400">
                  <a:solidFill>
                    <a:srgbClr val="AE9BFB"/>
                  </a:solidFill>
                  <a:latin typeface="Codec Pro"/>
                  <a:ea typeface="Codec Pro"/>
                  <a:cs typeface="Codec Pro"/>
                  <a:sym typeface="Codec Pro"/>
                </a:rPr>
                <a:t>Represents data in pairs for easy access.</a:t>
              </a:r>
            </a:p>
          </p:txBody>
        </p:sp>
        <p:sp>
          <p:nvSpPr>
            <p:cNvPr name="TextBox 13" id="13"/>
            <p:cNvSpPr txBox="true"/>
            <p:nvPr/>
          </p:nvSpPr>
          <p:spPr>
            <a:xfrm rot="0">
              <a:off x="0" y="-66675"/>
              <a:ext cx="6159500" cy="559435"/>
            </a:xfrm>
            <a:prstGeom prst="rect">
              <a:avLst/>
            </a:prstGeom>
          </p:spPr>
          <p:txBody>
            <a:bodyPr anchor="t" rtlCol="false" tIns="0" lIns="0" bIns="0" rIns="0">
              <a:spAutoFit/>
            </a:bodyPr>
            <a:lstStyle/>
            <a:p>
              <a:pPr algn="ctr" marL="0" indent="0" lvl="0">
                <a:lnSpc>
                  <a:spcPts val="3120"/>
                </a:lnSpc>
              </a:pPr>
              <a:r>
                <a:rPr lang="en-US" b="true" sz="2400">
                  <a:solidFill>
                    <a:srgbClr val="AE9BFB"/>
                  </a:solidFill>
                  <a:latin typeface="Codec Pro Ultra-Bold"/>
                  <a:ea typeface="Codec Pro Ultra-Bold"/>
                  <a:cs typeface="Codec Pro Ultra-Bold"/>
                  <a:sym typeface="Codec Pro Ultra-Bold"/>
                </a:rPr>
                <a:t>Key-Value</a:t>
              </a:r>
            </a:p>
          </p:txBody>
        </p:sp>
      </p:grpSp>
      <p:grpSp>
        <p:nvGrpSpPr>
          <p:cNvPr name="Group 14" id="14"/>
          <p:cNvGrpSpPr/>
          <p:nvPr/>
        </p:nvGrpSpPr>
        <p:grpSpPr>
          <a:xfrm rot="0">
            <a:off x="6834188" y="6934200"/>
            <a:ext cx="4479254" cy="1196340"/>
            <a:chOff x="0" y="0"/>
            <a:chExt cx="5972338" cy="1595120"/>
          </a:xfrm>
        </p:grpSpPr>
        <p:sp>
          <p:nvSpPr>
            <p:cNvPr name="TextBox 15" id="15"/>
            <p:cNvSpPr txBox="true"/>
            <p:nvPr/>
          </p:nvSpPr>
          <p:spPr>
            <a:xfrm rot="0">
              <a:off x="0" y="527685"/>
              <a:ext cx="5972338" cy="1067435"/>
            </a:xfrm>
            <a:prstGeom prst="rect">
              <a:avLst/>
            </a:prstGeom>
          </p:spPr>
          <p:txBody>
            <a:bodyPr anchor="t" rtlCol="false" tIns="0" lIns="0" bIns="0" rIns="0">
              <a:spAutoFit/>
            </a:bodyPr>
            <a:lstStyle/>
            <a:p>
              <a:pPr algn="ctr" marL="0" indent="0" lvl="0">
                <a:lnSpc>
                  <a:spcPts val="3120"/>
                </a:lnSpc>
              </a:pPr>
              <a:r>
                <a:rPr lang="en-US" sz="2400">
                  <a:solidFill>
                    <a:srgbClr val="AE9BFB"/>
                  </a:solidFill>
                  <a:latin typeface="Codec Pro"/>
                  <a:ea typeface="Codec Pro"/>
                  <a:cs typeface="Codec Pro"/>
                  <a:sym typeface="Codec Pro"/>
                </a:rPr>
                <a:t>Includes strings, numbers, booleans, and arrays.</a:t>
              </a:r>
            </a:p>
          </p:txBody>
        </p:sp>
        <p:sp>
          <p:nvSpPr>
            <p:cNvPr name="TextBox 16" id="16"/>
            <p:cNvSpPr txBox="true"/>
            <p:nvPr/>
          </p:nvSpPr>
          <p:spPr>
            <a:xfrm rot="0">
              <a:off x="0" y="-66675"/>
              <a:ext cx="5972338" cy="559435"/>
            </a:xfrm>
            <a:prstGeom prst="rect">
              <a:avLst/>
            </a:prstGeom>
          </p:spPr>
          <p:txBody>
            <a:bodyPr anchor="t" rtlCol="false" tIns="0" lIns="0" bIns="0" rIns="0">
              <a:spAutoFit/>
            </a:bodyPr>
            <a:lstStyle/>
            <a:p>
              <a:pPr algn="ctr" marL="0" indent="0" lvl="0">
                <a:lnSpc>
                  <a:spcPts val="3120"/>
                </a:lnSpc>
              </a:pPr>
              <a:r>
                <a:rPr lang="en-US" b="true" sz="2400">
                  <a:solidFill>
                    <a:srgbClr val="AE9BFB"/>
                  </a:solidFill>
                  <a:latin typeface="Codec Pro Ultra-Bold"/>
                  <a:ea typeface="Codec Pro Ultra-Bold"/>
                  <a:cs typeface="Codec Pro Ultra-Bold"/>
                  <a:sym typeface="Codec Pro Ultra-Bold"/>
                </a:rPr>
                <a:t>Data Types</a:t>
              </a:r>
            </a:p>
          </p:txBody>
        </p:sp>
      </p:grpSp>
      <p:grpSp>
        <p:nvGrpSpPr>
          <p:cNvPr name="Group 17" id="17"/>
          <p:cNvGrpSpPr/>
          <p:nvPr/>
        </p:nvGrpSpPr>
        <p:grpSpPr>
          <a:xfrm rot="0">
            <a:off x="11868150" y="6934200"/>
            <a:ext cx="4620413" cy="1196340"/>
            <a:chOff x="0" y="0"/>
            <a:chExt cx="6160551" cy="1595120"/>
          </a:xfrm>
        </p:grpSpPr>
        <p:sp>
          <p:nvSpPr>
            <p:cNvPr name="TextBox 18" id="18"/>
            <p:cNvSpPr txBox="true"/>
            <p:nvPr/>
          </p:nvSpPr>
          <p:spPr>
            <a:xfrm rot="0">
              <a:off x="0" y="527685"/>
              <a:ext cx="6160551" cy="1067435"/>
            </a:xfrm>
            <a:prstGeom prst="rect">
              <a:avLst/>
            </a:prstGeom>
          </p:spPr>
          <p:txBody>
            <a:bodyPr anchor="t" rtlCol="false" tIns="0" lIns="0" bIns="0" rIns="0">
              <a:spAutoFit/>
            </a:bodyPr>
            <a:lstStyle/>
            <a:p>
              <a:pPr algn="ctr" marL="0" indent="0" lvl="0">
                <a:lnSpc>
                  <a:spcPts val="3120"/>
                </a:lnSpc>
              </a:pPr>
              <a:r>
                <a:rPr lang="en-US" sz="2400">
                  <a:solidFill>
                    <a:srgbClr val="AE9BFB"/>
                  </a:solidFill>
                  <a:latin typeface="Codec Pro"/>
                  <a:ea typeface="Codec Pro"/>
                  <a:cs typeface="Codec Pro"/>
                  <a:sym typeface="Codec Pro"/>
                </a:rPr>
                <a:t>Organizes complex data through layered structures.</a:t>
              </a:r>
            </a:p>
          </p:txBody>
        </p:sp>
        <p:sp>
          <p:nvSpPr>
            <p:cNvPr name="TextBox 19" id="19"/>
            <p:cNvSpPr txBox="true"/>
            <p:nvPr/>
          </p:nvSpPr>
          <p:spPr>
            <a:xfrm rot="0">
              <a:off x="0" y="-66675"/>
              <a:ext cx="6160551" cy="559435"/>
            </a:xfrm>
            <a:prstGeom prst="rect">
              <a:avLst/>
            </a:prstGeom>
          </p:spPr>
          <p:txBody>
            <a:bodyPr anchor="t" rtlCol="false" tIns="0" lIns="0" bIns="0" rIns="0">
              <a:spAutoFit/>
            </a:bodyPr>
            <a:lstStyle/>
            <a:p>
              <a:pPr algn="ctr" marL="0" indent="0" lvl="0">
                <a:lnSpc>
                  <a:spcPts val="3120"/>
                </a:lnSpc>
              </a:pPr>
              <a:r>
                <a:rPr lang="en-US" b="true" sz="2400">
                  <a:solidFill>
                    <a:srgbClr val="AE9BFB"/>
                  </a:solidFill>
                  <a:latin typeface="Codec Pro Ultra-Bold"/>
                  <a:ea typeface="Codec Pro Ultra-Bold"/>
                  <a:cs typeface="Codec Pro Ultra-Bold"/>
                  <a:sym typeface="Codec Pro Ultra-Bold"/>
                </a:rPr>
                <a:t>Nested Objects</a:t>
              </a:r>
            </a:p>
          </p:txBody>
        </p:sp>
      </p:grpSp>
      <p:sp>
        <p:nvSpPr>
          <p:cNvPr name="TextBox 20" id="20"/>
          <p:cNvSpPr txBox="true"/>
          <p:nvPr/>
        </p:nvSpPr>
        <p:spPr>
          <a:xfrm rot="0">
            <a:off x="2105025" y="1504950"/>
            <a:ext cx="14077950" cy="876300"/>
          </a:xfrm>
          <a:prstGeom prst="rect">
            <a:avLst/>
          </a:prstGeom>
        </p:spPr>
        <p:txBody>
          <a:bodyPr anchor="t" rtlCol="false" tIns="0" lIns="0" bIns="0" rIns="0">
            <a:spAutoFit/>
          </a:bodyPr>
          <a:lstStyle/>
          <a:p>
            <a:pPr algn="ctr" marL="0" indent="0" lvl="0">
              <a:lnSpc>
                <a:spcPts val="6480"/>
              </a:lnSpc>
            </a:pPr>
            <a:r>
              <a:rPr lang="en-US" b="true" sz="5400" spc="-135">
                <a:solidFill>
                  <a:srgbClr val="AE9BFB"/>
                </a:solidFill>
                <a:latin typeface="Gatwick Ultra-Bold"/>
                <a:ea typeface="Gatwick Ultra-Bold"/>
                <a:cs typeface="Gatwick Ultra-Bold"/>
                <a:sym typeface="Gatwick Ultra-Bold"/>
              </a:rPr>
              <a:t>JSON Basics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226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AE9BF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5563DB"/>
            </a:solidFill>
          </p:spPr>
        </p:sp>
      </p:grpSp>
      <p:sp>
        <p:nvSpPr>
          <p:cNvPr name="Freeform 5" id="5"/>
          <p:cNvSpPr/>
          <p:nvPr/>
        </p:nvSpPr>
        <p:spPr>
          <a:xfrm flipH="false" flipV="false" rot="0">
            <a:off x="2105025" y="2158401"/>
            <a:ext cx="5753100" cy="5970198"/>
          </a:xfrm>
          <a:custGeom>
            <a:avLst/>
            <a:gdLst/>
            <a:ahLst/>
            <a:cxnLst/>
            <a:rect r="r" b="b" t="t" l="l"/>
            <a:pathLst>
              <a:path h="5970198" w="5753100">
                <a:moveTo>
                  <a:pt x="0" y="0"/>
                </a:moveTo>
                <a:lnTo>
                  <a:pt x="5753100" y="0"/>
                </a:lnTo>
                <a:lnTo>
                  <a:pt x="5753100" y="5970198"/>
                </a:lnTo>
                <a:lnTo>
                  <a:pt x="0" y="59701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9296400" y="2457450"/>
            <a:ext cx="6886575" cy="4722495"/>
            <a:chOff x="0" y="0"/>
            <a:chExt cx="9182100" cy="6296660"/>
          </a:xfrm>
        </p:grpSpPr>
        <p:sp>
          <p:nvSpPr>
            <p:cNvPr name="TextBox 7" id="7"/>
            <p:cNvSpPr txBox="true"/>
            <p:nvPr/>
          </p:nvSpPr>
          <p:spPr>
            <a:xfrm rot="0">
              <a:off x="0" y="-57150"/>
              <a:ext cx="9182100" cy="4425950"/>
            </a:xfrm>
            <a:prstGeom prst="rect">
              <a:avLst/>
            </a:prstGeom>
          </p:spPr>
          <p:txBody>
            <a:bodyPr anchor="t" rtlCol="false" tIns="0" lIns="0" bIns="0" rIns="0">
              <a:spAutoFit/>
            </a:bodyPr>
            <a:lstStyle/>
            <a:p>
              <a:pPr algn="ctr" marL="0" indent="0" lvl="0">
                <a:lnSpc>
                  <a:spcPts val="6480"/>
                </a:lnSpc>
              </a:pPr>
              <a:r>
                <a:rPr lang="en-US" b="true" sz="5400" spc="-135">
                  <a:solidFill>
                    <a:srgbClr val="0A2269"/>
                  </a:solidFill>
                  <a:latin typeface="Gatwick Ultra-Bold"/>
                  <a:ea typeface="Gatwick Ultra-Bold"/>
                  <a:cs typeface="Gatwick Ultra-Bold"/>
                  <a:sym typeface="Gatwick Ultra-Bold"/>
                </a:rPr>
                <a:t>JSON vs Python Dictionary: Key Syntax Differences</a:t>
              </a:r>
            </a:p>
          </p:txBody>
        </p:sp>
        <p:sp>
          <p:nvSpPr>
            <p:cNvPr name="TextBox 8" id="8"/>
            <p:cNvSpPr txBox="true"/>
            <p:nvPr/>
          </p:nvSpPr>
          <p:spPr>
            <a:xfrm rot="0">
              <a:off x="0" y="4708525"/>
              <a:ext cx="9182100" cy="1588135"/>
            </a:xfrm>
            <a:prstGeom prst="rect">
              <a:avLst/>
            </a:prstGeom>
          </p:spPr>
          <p:txBody>
            <a:bodyPr anchor="t" rtlCol="false" tIns="0" lIns="0" bIns="0" rIns="0">
              <a:spAutoFit/>
            </a:bodyPr>
            <a:lstStyle/>
            <a:p>
              <a:pPr algn="ctr" marL="0" indent="0" lvl="0">
                <a:lnSpc>
                  <a:spcPts val="3120"/>
                </a:lnSpc>
              </a:pPr>
              <a:r>
                <a:rPr lang="en-US" sz="2400">
                  <a:solidFill>
                    <a:srgbClr val="0A2269"/>
                  </a:solidFill>
                  <a:latin typeface="Codec Pro"/>
                  <a:ea typeface="Codec Pro"/>
                  <a:cs typeface="Codec Pro"/>
                  <a:sym typeface="Codec Pro"/>
                </a:rPr>
                <a:t>JSON keys must be strings with double quotes, while Python dictionaries can use different data types for keys.</a:t>
              </a:r>
            </a:p>
          </p:txBody>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0A226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AE9BF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2E30A0"/>
            </a:solidFill>
          </p:spPr>
        </p:sp>
      </p:grpSp>
      <p:sp>
        <p:nvSpPr>
          <p:cNvPr name="TextBox 5" id="5"/>
          <p:cNvSpPr txBox="true"/>
          <p:nvPr/>
        </p:nvSpPr>
        <p:spPr>
          <a:xfrm rot="0">
            <a:off x="2105025" y="4267200"/>
            <a:ext cx="4010025" cy="1695450"/>
          </a:xfrm>
          <a:prstGeom prst="rect">
            <a:avLst/>
          </a:prstGeom>
        </p:spPr>
        <p:txBody>
          <a:bodyPr anchor="t" rtlCol="false" tIns="0" lIns="0" bIns="0" rIns="0">
            <a:spAutoFit/>
          </a:bodyPr>
          <a:lstStyle/>
          <a:p>
            <a:pPr algn="ctr" marL="0" indent="0" lvl="0">
              <a:lnSpc>
                <a:spcPts val="6480"/>
              </a:lnSpc>
            </a:pPr>
            <a:r>
              <a:rPr lang="en-US" b="true" sz="5400" spc="-135">
                <a:solidFill>
                  <a:srgbClr val="0A2269"/>
                </a:solidFill>
                <a:latin typeface="Gatwick Ultra-Bold"/>
                <a:ea typeface="Gatwick Ultra-Bold"/>
                <a:cs typeface="Gatwick Ultra-Bold"/>
                <a:sym typeface="Gatwick Ultra-Bold"/>
              </a:rPr>
              <a:t>JSON in Python</a:t>
            </a:r>
          </a:p>
        </p:txBody>
      </p:sp>
      <p:grpSp>
        <p:nvGrpSpPr>
          <p:cNvPr name="Group 6" id="6"/>
          <p:cNvGrpSpPr/>
          <p:nvPr/>
        </p:nvGrpSpPr>
        <p:grpSpPr>
          <a:xfrm rot="0">
            <a:off x="6909150" y="1562100"/>
            <a:ext cx="9578625" cy="7162800"/>
            <a:chOff x="0" y="0"/>
            <a:chExt cx="2522765" cy="1886499"/>
          </a:xfrm>
        </p:grpSpPr>
        <p:sp>
          <p:nvSpPr>
            <p:cNvPr name="Freeform 7" id="7"/>
            <p:cNvSpPr/>
            <p:nvPr/>
          </p:nvSpPr>
          <p:spPr>
            <a:xfrm flipH="false" flipV="false" rot="0">
              <a:off x="0" y="0"/>
              <a:ext cx="2522765" cy="1886499"/>
            </a:xfrm>
            <a:custGeom>
              <a:avLst/>
              <a:gdLst/>
              <a:ahLst/>
              <a:cxnLst/>
              <a:rect r="r" b="b" t="t" l="l"/>
              <a:pathLst>
                <a:path h="1886499" w="2522765">
                  <a:moveTo>
                    <a:pt x="40412" y="0"/>
                  </a:moveTo>
                  <a:lnTo>
                    <a:pt x="2482353" y="0"/>
                  </a:lnTo>
                  <a:cubicBezTo>
                    <a:pt x="2493071" y="0"/>
                    <a:pt x="2503350" y="4258"/>
                    <a:pt x="2510929" y="11837"/>
                  </a:cubicBezTo>
                  <a:cubicBezTo>
                    <a:pt x="2518508" y="19415"/>
                    <a:pt x="2522765" y="29694"/>
                    <a:pt x="2522765" y="40412"/>
                  </a:cubicBezTo>
                  <a:lnTo>
                    <a:pt x="2522765" y="1846086"/>
                  </a:lnTo>
                  <a:cubicBezTo>
                    <a:pt x="2522765" y="1856804"/>
                    <a:pt x="2518508" y="1867084"/>
                    <a:pt x="2510929" y="1874662"/>
                  </a:cubicBezTo>
                  <a:cubicBezTo>
                    <a:pt x="2503350" y="1882241"/>
                    <a:pt x="2493071" y="1886499"/>
                    <a:pt x="2482353" y="1886499"/>
                  </a:cubicBezTo>
                  <a:lnTo>
                    <a:pt x="40412" y="1886499"/>
                  </a:lnTo>
                  <a:cubicBezTo>
                    <a:pt x="29694" y="1886499"/>
                    <a:pt x="19415" y="1882241"/>
                    <a:pt x="11837" y="1874662"/>
                  </a:cubicBezTo>
                  <a:cubicBezTo>
                    <a:pt x="4258" y="1867084"/>
                    <a:pt x="0" y="1856804"/>
                    <a:pt x="0" y="1846086"/>
                  </a:cubicBezTo>
                  <a:lnTo>
                    <a:pt x="0" y="40412"/>
                  </a:lnTo>
                  <a:cubicBezTo>
                    <a:pt x="0" y="29694"/>
                    <a:pt x="4258" y="19415"/>
                    <a:pt x="11837" y="11837"/>
                  </a:cubicBezTo>
                  <a:cubicBezTo>
                    <a:pt x="19415" y="4258"/>
                    <a:pt x="29694" y="0"/>
                    <a:pt x="40412" y="0"/>
                  </a:cubicBezTo>
                  <a:close/>
                </a:path>
              </a:pathLst>
            </a:custGeom>
            <a:ln w="38100" cap="rnd">
              <a:solidFill>
                <a:srgbClr val="000000"/>
              </a:solidFill>
              <a:prstDash val="solid"/>
              <a:round/>
            </a:ln>
          </p:spPr>
        </p:sp>
        <p:sp>
          <p:nvSpPr>
            <p:cNvPr name="TextBox 8" id="8"/>
            <p:cNvSpPr txBox="true"/>
            <p:nvPr/>
          </p:nvSpPr>
          <p:spPr>
            <a:xfrm>
              <a:off x="0" y="-66675"/>
              <a:ext cx="2522765"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553325" y="3090863"/>
            <a:ext cx="8290275" cy="3941445"/>
          </a:xfrm>
          <a:prstGeom prst="rect">
            <a:avLst/>
          </a:prstGeom>
        </p:spPr>
        <p:txBody>
          <a:bodyPr anchor="t" rtlCol="false" tIns="0" lIns="0" bIns="0" rIns="0">
            <a:spAutoFit/>
          </a:bodyPr>
          <a:lstStyle/>
          <a:p>
            <a:pPr algn="ctr" marL="0" indent="0" lvl="0">
              <a:lnSpc>
                <a:spcPts val="3120"/>
              </a:lnSpc>
            </a:pPr>
            <a:r>
              <a:rPr lang="en-US" sz="2400">
                <a:solidFill>
                  <a:srgbClr val="0A2269"/>
                </a:solidFill>
                <a:latin typeface="Codec Pro"/>
                <a:ea typeface="Codec Pro"/>
                <a:cs typeface="Codec Pro"/>
                <a:sym typeface="Codec Pro"/>
              </a:rPr>
              <a:t>The </a:t>
            </a:r>
            <a:r>
              <a:rPr lang="en-US" b="true" sz="2400">
                <a:solidFill>
                  <a:srgbClr val="0A2269"/>
                </a:solidFill>
                <a:latin typeface="Codec Pro Bold"/>
                <a:ea typeface="Codec Pro Bold"/>
                <a:cs typeface="Codec Pro Bold"/>
                <a:sym typeface="Codec Pro Bold"/>
              </a:rPr>
              <a:t>json module</a:t>
            </a:r>
            <a:r>
              <a:rPr lang="en-US" sz="2400">
                <a:solidFill>
                  <a:srgbClr val="0A2269"/>
                </a:solidFill>
                <a:latin typeface="Codec Pro"/>
                <a:ea typeface="Codec Pro"/>
                <a:cs typeface="Codec Pro"/>
                <a:sym typeface="Codec Pro"/>
              </a:rPr>
              <a:t> in Python simplifies data conversion between Python objects and JSON formatted strings. Using json.dumps(), you can convert a Python dictionary into a JSON string, making it ready for storage or transmission. Conversely, json.loads() allows you to parse a JSON string back into a Python object, enabling easy manipulation. This seamless integration of JSON in Python facilitates working with APIs and enhances data exchange in modern applications, making programming more efficient.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A226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AE9BF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2E30A0"/>
            </a:solidFill>
          </p:spPr>
        </p:sp>
      </p:grpSp>
      <p:sp>
        <p:nvSpPr>
          <p:cNvPr name="TextBox 5" id="5"/>
          <p:cNvSpPr txBox="true"/>
          <p:nvPr/>
        </p:nvSpPr>
        <p:spPr>
          <a:xfrm rot="0">
            <a:off x="1800225" y="4267200"/>
            <a:ext cx="6057900" cy="1695450"/>
          </a:xfrm>
          <a:prstGeom prst="rect">
            <a:avLst/>
          </a:prstGeom>
        </p:spPr>
        <p:txBody>
          <a:bodyPr anchor="t" rtlCol="false" tIns="0" lIns="0" bIns="0" rIns="0">
            <a:spAutoFit/>
          </a:bodyPr>
          <a:lstStyle/>
          <a:p>
            <a:pPr algn="ctr" marL="0" indent="0" lvl="0">
              <a:lnSpc>
                <a:spcPts val="6480"/>
              </a:lnSpc>
            </a:pPr>
            <a:r>
              <a:rPr lang="en-US" b="true" sz="5400" spc="-135">
                <a:solidFill>
                  <a:srgbClr val="0A2269"/>
                </a:solidFill>
                <a:latin typeface="Gatwick Ultra-Bold"/>
                <a:ea typeface="Gatwick Ultra-Bold"/>
                <a:cs typeface="Gatwick Ultra-Bold"/>
                <a:sym typeface="Gatwick Ultra-Bold"/>
              </a:rPr>
              <a:t>Working with JSON Files</a:t>
            </a:r>
          </a:p>
        </p:txBody>
      </p:sp>
      <p:grpSp>
        <p:nvGrpSpPr>
          <p:cNvPr name="Group 6" id="6"/>
          <p:cNvGrpSpPr/>
          <p:nvPr/>
        </p:nvGrpSpPr>
        <p:grpSpPr>
          <a:xfrm rot="0">
            <a:off x="8991600" y="1562100"/>
            <a:ext cx="7496175" cy="7162800"/>
            <a:chOff x="0" y="0"/>
            <a:chExt cx="1055195" cy="1008268"/>
          </a:xfrm>
        </p:grpSpPr>
        <p:sp>
          <p:nvSpPr>
            <p:cNvPr name="Freeform 7" id="7"/>
            <p:cNvSpPr/>
            <p:nvPr/>
          </p:nvSpPr>
          <p:spPr>
            <a:xfrm flipH="false" flipV="false" rot="0">
              <a:off x="0" y="0"/>
              <a:ext cx="1055195" cy="1008268"/>
            </a:xfrm>
            <a:custGeom>
              <a:avLst/>
              <a:gdLst/>
              <a:ahLst/>
              <a:cxnLst/>
              <a:rect r="r" b="b" t="t" l="l"/>
              <a:pathLst>
                <a:path h="1008268" w="1055195">
                  <a:moveTo>
                    <a:pt x="36147" y="0"/>
                  </a:moveTo>
                  <a:lnTo>
                    <a:pt x="1019048" y="0"/>
                  </a:lnTo>
                  <a:cubicBezTo>
                    <a:pt x="1028635" y="0"/>
                    <a:pt x="1037829" y="3808"/>
                    <a:pt x="1044608" y="10587"/>
                  </a:cubicBezTo>
                  <a:cubicBezTo>
                    <a:pt x="1051387" y="17366"/>
                    <a:pt x="1055195" y="26561"/>
                    <a:pt x="1055195" y="36147"/>
                  </a:cubicBezTo>
                  <a:lnTo>
                    <a:pt x="1055195" y="972121"/>
                  </a:lnTo>
                  <a:cubicBezTo>
                    <a:pt x="1055195" y="992084"/>
                    <a:pt x="1039012" y="1008268"/>
                    <a:pt x="1019048" y="1008268"/>
                  </a:cubicBezTo>
                  <a:lnTo>
                    <a:pt x="36147" y="1008268"/>
                  </a:lnTo>
                  <a:cubicBezTo>
                    <a:pt x="16184" y="1008268"/>
                    <a:pt x="0" y="992084"/>
                    <a:pt x="0" y="972121"/>
                  </a:cubicBezTo>
                  <a:lnTo>
                    <a:pt x="0" y="36147"/>
                  </a:lnTo>
                  <a:cubicBezTo>
                    <a:pt x="0" y="16184"/>
                    <a:pt x="16184" y="0"/>
                    <a:pt x="36147" y="0"/>
                  </a:cubicBezTo>
                  <a:close/>
                </a:path>
              </a:pathLst>
            </a:custGeom>
            <a:blipFill>
              <a:blip r:embed="rId2"/>
              <a:stretch>
                <a:fillRect l="0" t="-234" r="0" b="-234"/>
              </a:stretch>
            </a:blipFill>
            <a:ln w="38100" cap="rnd">
              <a:solidFill>
                <a:srgbClr val="000000"/>
              </a:solidFill>
              <a:prstDash val="solid"/>
              <a:round/>
            </a:ln>
          </p:spPr>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0A226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AE9BF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2E30A0"/>
            </a:solidFill>
          </p:spPr>
        </p:sp>
      </p:grpSp>
      <p:sp>
        <p:nvSpPr>
          <p:cNvPr name="TextBox 5" id="5"/>
          <p:cNvSpPr txBox="true"/>
          <p:nvPr/>
        </p:nvSpPr>
        <p:spPr>
          <a:xfrm rot="0">
            <a:off x="2105025" y="4267200"/>
            <a:ext cx="4010025" cy="1695450"/>
          </a:xfrm>
          <a:prstGeom prst="rect">
            <a:avLst/>
          </a:prstGeom>
        </p:spPr>
        <p:txBody>
          <a:bodyPr anchor="t" rtlCol="false" tIns="0" lIns="0" bIns="0" rIns="0">
            <a:spAutoFit/>
          </a:bodyPr>
          <a:lstStyle/>
          <a:p>
            <a:pPr algn="ctr" marL="0" indent="0" lvl="0">
              <a:lnSpc>
                <a:spcPts val="6480"/>
              </a:lnSpc>
            </a:pPr>
            <a:r>
              <a:rPr lang="en-US" b="true" sz="5400" spc="-135">
                <a:solidFill>
                  <a:srgbClr val="0A2269"/>
                </a:solidFill>
                <a:latin typeface="Gatwick Ultra-Bold"/>
                <a:ea typeface="Gatwick Ultra-Bold"/>
                <a:cs typeface="Gatwick Ultra-Bold"/>
                <a:sym typeface="Gatwick Ultra-Bold"/>
              </a:rPr>
              <a:t>What is an API?</a:t>
            </a:r>
          </a:p>
        </p:txBody>
      </p:sp>
      <p:grpSp>
        <p:nvGrpSpPr>
          <p:cNvPr name="Group 6" id="6"/>
          <p:cNvGrpSpPr/>
          <p:nvPr/>
        </p:nvGrpSpPr>
        <p:grpSpPr>
          <a:xfrm rot="0">
            <a:off x="6909150" y="1562100"/>
            <a:ext cx="9578625" cy="7162800"/>
            <a:chOff x="0" y="0"/>
            <a:chExt cx="2522765" cy="1886499"/>
          </a:xfrm>
        </p:grpSpPr>
        <p:sp>
          <p:nvSpPr>
            <p:cNvPr name="Freeform 7" id="7"/>
            <p:cNvSpPr/>
            <p:nvPr/>
          </p:nvSpPr>
          <p:spPr>
            <a:xfrm flipH="false" flipV="false" rot="0">
              <a:off x="0" y="0"/>
              <a:ext cx="2522765" cy="1886499"/>
            </a:xfrm>
            <a:custGeom>
              <a:avLst/>
              <a:gdLst/>
              <a:ahLst/>
              <a:cxnLst/>
              <a:rect r="r" b="b" t="t" l="l"/>
              <a:pathLst>
                <a:path h="1886499" w="2522765">
                  <a:moveTo>
                    <a:pt x="40412" y="0"/>
                  </a:moveTo>
                  <a:lnTo>
                    <a:pt x="2482353" y="0"/>
                  </a:lnTo>
                  <a:cubicBezTo>
                    <a:pt x="2493071" y="0"/>
                    <a:pt x="2503350" y="4258"/>
                    <a:pt x="2510929" y="11837"/>
                  </a:cubicBezTo>
                  <a:cubicBezTo>
                    <a:pt x="2518508" y="19415"/>
                    <a:pt x="2522765" y="29694"/>
                    <a:pt x="2522765" y="40412"/>
                  </a:cubicBezTo>
                  <a:lnTo>
                    <a:pt x="2522765" y="1846086"/>
                  </a:lnTo>
                  <a:cubicBezTo>
                    <a:pt x="2522765" y="1856804"/>
                    <a:pt x="2518508" y="1867084"/>
                    <a:pt x="2510929" y="1874662"/>
                  </a:cubicBezTo>
                  <a:cubicBezTo>
                    <a:pt x="2503350" y="1882241"/>
                    <a:pt x="2493071" y="1886499"/>
                    <a:pt x="2482353" y="1886499"/>
                  </a:cubicBezTo>
                  <a:lnTo>
                    <a:pt x="40412" y="1886499"/>
                  </a:lnTo>
                  <a:cubicBezTo>
                    <a:pt x="29694" y="1886499"/>
                    <a:pt x="19415" y="1882241"/>
                    <a:pt x="11837" y="1874662"/>
                  </a:cubicBezTo>
                  <a:cubicBezTo>
                    <a:pt x="4258" y="1867084"/>
                    <a:pt x="0" y="1856804"/>
                    <a:pt x="0" y="1846086"/>
                  </a:cubicBezTo>
                  <a:lnTo>
                    <a:pt x="0" y="40412"/>
                  </a:lnTo>
                  <a:cubicBezTo>
                    <a:pt x="0" y="29694"/>
                    <a:pt x="4258" y="19415"/>
                    <a:pt x="11837" y="11837"/>
                  </a:cubicBezTo>
                  <a:cubicBezTo>
                    <a:pt x="19415" y="4258"/>
                    <a:pt x="29694" y="0"/>
                    <a:pt x="40412" y="0"/>
                  </a:cubicBezTo>
                  <a:close/>
                </a:path>
              </a:pathLst>
            </a:custGeom>
            <a:ln w="38100" cap="rnd">
              <a:solidFill>
                <a:srgbClr val="000000"/>
              </a:solidFill>
              <a:prstDash val="solid"/>
              <a:round/>
            </a:ln>
          </p:spPr>
        </p:sp>
        <p:sp>
          <p:nvSpPr>
            <p:cNvPr name="TextBox 8" id="8"/>
            <p:cNvSpPr txBox="true"/>
            <p:nvPr/>
          </p:nvSpPr>
          <p:spPr>
            <a:xfrm>
              <a:off x="0" y="-66675"/>
              <a:ext cx="2522765"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553325" y="3286125"/>
            <a:ext cx="8290275" cy="3550920"/>
          </a:xfrm>
          <a:prstGeom prst="rect">
            <a:avLst/>
          </a:prstGeom>
        </p:spPr>
        <p:txBody>
          <a:bodyPr anchor="t" rtlCol="false" tIns="0" lIns="0" bIns="0" rIns="0">
            <a:spAutoFit/>
          </a:bodyPr>
          <a:lstStyle/>
          <a:p>
            <a:pPr algn="ctr" marL="0" indent="0" lvl="0">
              <a:lnSpc>
                <a:spcPts val="3120"/>
              </a:lnSpc>
            </a:pPr>
            <a:r>
              <a:rPr lang="en-US" sz="2400">
                <a:solidFill>
                  <a:srgbClr val="0A2269"/>
                </a:solidFill>
                <a:latin typeface="Codec Pro"/>
                <a:ea typeface="Codec Pro"/>
                <a:cs typeface="Codec Pro"/>
                <a:sym typeface="Codec Pro"/>
              </a:rPr>
              <a:t>An </a:t>
            </a:r>
            <a:r>
              <a:rPr lang="en-US" b="true" sz="2400">
                <a:solidFill>
                  <a:srgbClr val="0A2269"/>
                </a:solidFill>
                <a:latin typeface="Codec Pro Bold"/>
                <a:ea typeface="Codec Pro Bold"/>
                <a:cs typeface="Codec Pro Bold"/>
                <a:sym typeface="Codec Pro Bold"/>
              </a:rPr>
              <a:t>API (Application Programming Interface)</a:t>
            </a:r>
            <a:r>
              <a:rPr lang="en-US" sz="2400">
                <a:solidFill>
                  <a:srgbClr val="0A2269"/>
                </a:solidFill>
                <a:latin typeface="Codec Pro"/>
                <a:ea typeface="Codec Pro"/>
                <a:cs typeface="Codec Pro"/>
                <a:sym typeface="Codec Pro"/>
              </a:rPr>
              <a:t> enables different applications to communicate seamlessly. It acts as a bridge, allowing one program to request data or services from another, much like a restaurant waiter takes orders and delivers food. By sending a request, the client interacts with a server that processes it and sends back the desired response. This interaction is vital for building modern applications that rely on data exchange and integration from various sources.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226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AE9BF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5563DB"/>
            </a:solidFill>
          </p:spPr>
        </p:sp>
      </p:grpSp>
      <p:sp>
        <p:nvSpPr>
          <p:cNvPr name="Freeform 5" id="5"/>
          <p:cNvSpPr/>
          <p:nvPr/>
        </p:nvSpPr>
        <p:spPr>
          <a:xfrm flipH="false" flipV="false" rot="0">
            <a:off x="2105025" y="2158401"/>
            <a:ext cx="5753100" cy="5970198"/>
          </a:xfrm>
          <a:custGeom>
            <a:avLst/>
            <a:gdLst/>
            <a:ahLst/>
            <a:cxnLst/>
            <a:rect r="r" b="b" t="t" l="l"/>
            <a:pathLst>
              <a:path h="5970198" w="5753100">
                <a:moveTo>
                  <a:pt x="0" y="0"/>
                </a:moveTo>
                <a:lnTo>
                  <a:pt x="5753100" y="0"/>
                </a:lnTo>
                <a:lnTo>
                  <a:pt x="5753100" y="5970198"/>
                </a:lnTo>
                <a:lnTo>
                  <a:pt x="0" y="59701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9296400" y="2867025"/>
            <a:ext cx="6886575" cy="3903345"/>
            <a:chOff x="0" y="0"/>
            <a:chExt cx="9182100" cy="5204460"/>
          </a:xfrm>
        </p:grpSpPr>
        <p:sp>
          <p:nvSpPr>
            <p:cNvPr name="TextBox 7" id="7"/>
            <p:cNvSpPr txBox="true"/>
            <p:nvPr/>
          </p:nvSpPr>
          <p:spPr>
            <a:xfrm rot="0">
              <a:off x="0" y="-57150"/>
              <a:ext cx="9182100" cy="3333750"/>
            </a:xfrm>
            <a:prstGeom prst="rect">
              <a:avLst/>
            </a:prstGeom>
          </p:spPr>
          <p:txBody>
            <a:bodyPr anchor="t" rtlCol="false" tIns="0" lIns="0" bIns="0" rIns="0">
              <a:spAutoFit/>
            </a:bodyPr>
            <a:lstStyle/>
            <a:p>
              <a:pPr algn="ctr" marL="0" indent="0" lvl="0">
                <a:lnSpc>
                  <a:spcPts val="6480"/>
                </a:lnSpc>
              </a:pPr>
              <a:r>
                <a:rPr lang="en-US" b="true" sz="5400" spc="-135">
                  <a:solidFill>
                    <a:srgbClr val="0A2269"/>
                  </a:solidFill>
                  <a:latin typeface="Gatwick Ultra-Bold"/>
                  <a:ea typeface="Gatwick Ultra-Bold"/>
                  <a:cs typeface="Gatwick Ultra-Bold"/>
                  <a:sym typeface="Gatwick Ultra-Bold"/>
                </a:rPr>
                <a:t>Making API Calls in Python with Requests</a:t>
              </a:r>
            </a:p>
          </p:txBody>
        </p:sp>
        <p:sp>
          <p:nvSpPr>
            <p:cNvPr name="TextBox 8" id="8"/>
            <p:cNvSpPr txBox="true"/>
            <p:nvPr/>
          </p:nvSpPr>
          <p:spPr>
            <a:xfrm rot="0">
              <a:off x="0" y="3616325"/>
              <a:ext cx="9182100" cy="1588135"/>
            </a:xfrm>
            <a:prstGeom prst="rect">
              <a:avLst/>
            </a:prstGeom>
          </p:spPr>
          <p:txBody>
            <a:bodyPr anchor="t" rtlCol="false" tIns="0" lIns="0" bIns="0" rIns="0">
              <a:spAutoFit/>
            </a:bodyPr>
            <a:lstStyle/>
            <a:p>
              <a:pPr algn="ctr" marL="0" indent="0" lvl="0">
                <a:lnSpc>
                  <a:spcPts val="3120"/>
                </a:lnSpc>
              </a:pPr>
              <a:r>
                <a:rPr lang="en-US" sz="2400">
                  <a:solidFill>
                    <a:srgbClr val="0A2269"/>
                  </a:solidFill>
                  <a:latin typeface="Codec Pro"/>
                  <a:ea typeface="Codec Pro"/>
                  <a:cs typeface="Codec Pro"/>
                  <a:sym typeface="Codec Pro"/>
                </a:rPr>
                <a:t>Learn how to </a:t>
              </a:r>
              <a:r>
                <a:rPr lang="en-US" b="true" sz="2400">
                  <a:solidFill>
                    <a:srgbClr val="0A2269"/>
                  </a:solidFill>
                  <a:latin typeface="Codec Pro Bold"/>
                  <a:ea typeface="Codec Pro Bold"/>
                  <a:cs typeface="Codec Pro Bold"/>
                  <a:sym typeface="Codec Pro Bold"/>
                </a:rPr>
                <a:t>efficiently fetch and send data</a:t>
              </a:r>
              <a:r>
                <a:rPr lang="en-US" sz="2400">
                  <a:solidFill>
                    <a:srgbClr val="0A2269"/>
                  </a:solidFill>
                  <a:latin typeface="Codec Pro"/>
                  <a:ea typeface="Codec Pro"/>
                  <a:cs typeface="Codec Pro"/>
                  <a:sym typeface="Codec Pro"/>
                </a:rPr>
                <a:t> using the requests library for seamless API communication.</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A226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AE9BF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5563DB"/>
            </a:solidFill>
          </p:spPr>
        </p:sp>
      </p:grpSp>
      <p:sp>
        <p:nvSpPr>
          <p:cNvPr name="TextBox 5" id="5"/>
          <p:cNvSpPr txBox="true"/>
          <p:nvPr/>
        </p:nvSpPr>
        <p:spPr>
          <a:xfrm rot="0">
            <a:off x="1800225" y="4267200"/>
            <a:ext cx="6057900" cy="1695450"/>
          </a:xfrm>
          <a:prstGeom prst="rect">
            <a:avLst/>
          </a:prstGeom>
        </p:spPr>
        <p:txBody>
          <a:bodyPr anchor="t" rtlCol="false" tIns="0" lIns="0" bIns="0" rIns="0">
            <a:spAutoFit/>
          </a:bodyPr>
          <a:lstStyle/>
          <a:p>
            <a:pPr algn="ctr" marL="0" indent="0" lvl="0">
              <a:lnSpc>
                <a:spcPts val="6480"/>
              </a:lnSpc>
            </a:pPr>
            <a:r>
              <a:rPr lang="en-US" b="true" sz="5400" spc="-135">
                <a:solidFill>
                  <a:srgbClr val="0A2269"/>
                </a:solidFill>
                <a:latin typeface="Gatwick Ultra-Bold"/>
                <a:ea typeface="Gatwick Ultra-Bold"/>
                <a:cs typeface="Gatwick Ultra-Bold"/>
                <a:sym typeface="Gatwick Ultra-Bold"/>
              </a:rPr>
              <a:t>JSON and API Connection</a:t>
            </a:r>
          </a:p>
        </p:txBody>
      </p:sp>
      <p:grpSp>
        <p:nvGrpSpPr>
          <p:cNvPr name="Group 6" id="6"/>
          <p:cNvGrpSpPr/>
          <p:nvPr/>
        </p:nvGrpSpPr>
        <p:grpSpPr>
          <a:xfrm rot="0">
            <a:off x="8991600" y="1562100"/>
            <a:ext cx="7496175" cy="7162800"/>
            <a:chOff x="0" y="0"/>
            <a:chExt cx="1055195" cy="1008268"/>
          </a:xfrm>
        </p:grpSpPr>
        <p:sp>
          <p:nvSpPr>
            <p:cNvPr name="Freeform 7" id="7"/>
            <p:cNvSpPr/>
            <p:nvPr/>
          </p:nvSpPr>
          <p:spPr>
            <a:xfrm flipH="false" flipV="false" rot="0">
              <a:off x="0" y="0"/>
              <a:ext cx="1055195" cy="1008268"/>
            </a:xfrm>
            <a:custGeom>
              <a:avLst/>
              <a:gdLst/>
              <a:ahLst/>
              <a:cxnLst/>
              <a:rect r="r" b="b" t="t" l="l"/>
              <a:pathLst>
                <a:path h="1008268" w="1055195">
                  <a:moveTo>
                    <a:pt x="36147" y="0"/>
                  </a:moveTo>
                  <a:lnTo>
                    <a:pt x="1019048" y="0"/>
                  </a:lnTo>
                  <a:cubicBezTo>
                    <a:pt x="1028635" y="0"/>
                    <a:pt x="1037829" y="3808"/>
                    <a:pt x="1044608" y="10587"/>
                  </a:cubicBezTo>
                  <a:cubicBezTo>
                    <a:pt x="1051387" y="17366"/>
                    <a:pt x="1055195" y="26561"/>
                    <a:pt x="1055195" y="36147"/>
                  </a:cubicBezTo>
                  <a:lnTo>
                    <a:pt x="1055195" y="972121"/>
                  </a:lnTo>
                  <a:cubicBezTo>
                    <a:pt x="1055195" y="992084"/>
                    <a:pt x="1039012" y="1008268"/>
                    <a:pt x="1019048" y="1008268"/>
                  </a:cubicBezTo>
                  <a:lnTo>
                    <a:pt x="36147" y="1008268"/>
                  </a:lnTo>
                  <a:cubicBezTo>
                    <a:pt x="16184" y="1008268"/>
                    <a:pt x="0" y="992084"/>
                    <a:pt x="0" y="972121"/>
                  </a:cubicBezTo>
                  <a:lnTo>
                    <a:pt x="0" y="36147"/>
                  </a:lnTo>
                  <a:cubicBezTo>
                    <a:pt x="0" y="16184"/>
                    <a:pt x="16184" y="0"/>
                    <a:pt x="36147" y="0"/>
                  </a:cubicBezTo>
                  <a:close/>
                </a:path>
              </a:pathLst>
            </a:custGeom>
            <a:blipFill>
              <a:blip r:embed="rId2"/>
              <a:stretch>
                <a:fillRect l="0" t="-234" r="0" b="-234"/>
              </a:stretch>
            </a:blipFill>
            <a:ln w="38100" cap="rnd">
              <a:solidFill>
                <a:srgbClr val="000000"/>
              </a:solidFill>
              <a:prstDash val="solid"/>
              <a:round/>
            </a:ln>
          </p:spPr>
        </p:sp>
      </p:grpSp>
    </p:spTree>
  </p:cSld>
  <p:clrMapOvr>
    <a:masterClrMapping/>
  </p:clrMapOvr>
</p:sld>
</file>

<file path=ppt/slides/slide10.xml><?xml version="1.0" encoding="utf-8"?>
<p:sld xmlns:p="http://schemas.openxmlformats.org/presentationml/2006/main" xmlns:a="http://schemas.openxmlformats.org/drawingml/2006/main">
  <p:cSld>
    <p:bg>
      <p:bgPr>
        <a:solidFill>
          <a:srgbClr val="0A226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AE9BF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2E30A0"/>
            </a:solidFill>
          </p:spPr>
        </p:sp>
      </p:grpSp>
      <p:sp>
        <p:nvSpPr>
          <p:cNvPr name="TextBox 5" id="5"/>
          <p:cNvSpPr txBox="true"/>
          <p:nvPr/>
        </p:nvSpPr>
        <p:spPr>
          <a:xfrm rot="0">
            <a:off x="2105025" y="3857625"/>
            <a:ext cx="4010025" cy="2514600"/>
          </a:xfrm>
          <a:prstGeom prst="rect">
            <a:avLst/>
          </a:prstGeom>
        </p:spPr>
        <p:txBody>
          <a:bodyPr anchor="t" rtlCol="false" tIns="0" lIns="0" bIns="0" rIns="0">
            <a:spAutoFit/>
          </a:bodyPr>
          <a:lstStyle/>
          <a:p>
            <a:pPr algn="ctr" marL="0" indent="0" lvl="0">
              <a:lnSpc>
                <a:spcPts val="6480"/>
              </a:lnSpc>
            </a:pPr>
            <a:r>
              <a:rPr lang="en-US" b="true" sz="5400" spc="-135">
                <a:solidFill>
                  <a:srgbClr val="0A2269"/>
                </a:solidFill>
                <a:latin typeface="Gatwick Ultra-Bold"/>
                <a:ea typeface="Gatwick Ultra-Bold"/>
                <a:cs typeface="Gatwick Ultra-Bold"/>
                <a:sym typeface="Gatwick Ultra-Bold"/>
              </a:rPr>
              <a:t>Weather App Project</a:t>
            </a:r>
          </a:p>
        </p:txBody>
      </p:sp>
      <p:grpSp>
        <p:nvGrpSpPr>
          <p:cNvPr name="Group 6" id="6"/>
          <p:cNvGrpSpPr/>
          <p:nvPr/>
        </p:nvGrpSpPr>
        <p:grpSpPr>
          <a:xfrm rot="0">
            <a:off x="6909150" y="1562100"/>
            <a:ext cx="9578625" cy="7162800"/>
            <a:chOff x="0" y="0"/>
            <a:chExt cx="2522765" cy="1886499"/>
          </a:xfrm>
        </p:grpSpPr>
        <p:sp>
          <p:nvSpPr>
            <p:cNvPr name="Freeform 7" id="7"/>
            <p:cNvSpPr/>
            <p:nvPr/>
          </p:nvSpPr>
          <p:spPr>
            <a:xfrm flipH="false" flipV="false" rot="0">
              <a:off x="0" y="0"/>
              <a:ext cx="2522765" cy="1886499"/>
            </a:xfrm>
            <a:custGeom>
              <a:avLst/>
              <a:gdLst/>
              <a:ahLst/>
              <a:cxnLst/>
              <a:rect r="r" b="b" t="t" l="l"/>
              <a:pathLst>
                <a:path h="1886499" w="2522765">
                  <a:moveTo>
                    <a:pt x="40412" y="0"/>
                  </a:moveTo>
                  <a:lnTo>
                    <a:pt x="2482353" y="0"/>
                  </a:lnTo>
                  <a:cubicBezTo>
                    <a:pt x="2493071" y="0"/>
                    <a:pt x="2503350" y="4258"/>
                    <a:pt x="2510929" y="11837"/>
                  </a:cubicBezTo>
                  <a:cubicBezTo>
                    <a:pt x="2518508" y="19415"/>
                    <a:pt x="2522765" y="29694"/>
                    <a:pt x="2522765" y="40412"/>
                  </a:cubicBezTo>
                  <a:lnTo>
                    <a:pt x="2522765" y="1846086"/>
                  </a:lnTo>
                  <a:cubicBezTo>
                    <a:pt x="2522765" y="1856804"/>
                    <a:pt x="2518508" y="1867084"/>
                    <a:pt x="2510929" y="1874662"/>
                  </a:cubicBezTo>
                  <a:cubicBezTo>
                    <a:pt x="2503350" y="1882241"/>
                    <a:pt x="2493071" y="1886499"/>
                    <a:pt x="2482353" y="1886499"/>
                  </a:cubicBezTo>
                  <a:lnTo>
                    <a:pt x="40412" y="1886499"/>
                  </a:lnTo>
                  <a:cubicBezTo>
                    <a:pt x="29694" y="1886499"/>
                    <a:pt x="19415" y="1882241"/>
                    <a:pt x="11837" y="1874662"/>
                  </a:cubicBezTo>
                  <a:cubicBezTo>
                    <a:pt x="4258" y="1867084"/>
                    <a:pt x="0" y="1856804"/>
                    <a:pt x="0" y="1846086"/>
                  </a:cubicBezTo>
                  <a:lnTo>
                    <a:pt x="0" y="40412"/>
                  </a:lnTo>
                  <a:cubicBezTo>
                    <a:pt x="0" y="29694"/>
                    <a:pt x="4258" y="19415"/>
                    <a:pt x="11837" y="11837"/>
                  </a:cubicBezTo>
                  <a:cubicBezTo>
                    <a:pt x="19415" y="4258"/>
                    <a:pt x="29694" y="0"/>
                    <a:pt x="40412" y="0"/>
                  </a:cubicBezTo>
                  <a:close/>
                </a:path>
              </a:pathLst>
            </a:custGeom>
            <a:ln w="38100" cap="rnd">
              <a:solidFill>
                <a:srgbClr val="000000"/>
              </a:solidFill>
              <a:prstDash val="solid"/>
              <a:round/>
            </a:ln>
          </p:spPr>
        </p:sp>
        <p:sp>
          <p:nvSpPr>
            <p:cNvPr name="TextBox 8" id="8"/>
            <p:cNvSpPr txBox="true"/>
            <p:nvPr/>
          </p:nvSpPr>
          <p:spPr>
            <a:xfrm>
              <a:off x="0" y="-66675"/>
              <a:ext cx="2522765"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553325" y="3090863"/>
            <a:ext cx="8290275" cy="3941445"/>
          </a:xfrm>
          <a:prstGeom prst="rect">
            <a:avLst/>
          </a:prstGeom>
        </p:spPr>
        <p:txBody>
          <a:bodyPr anchor="t" rtlCol="false" tIns="0" lIns="0" bIns="0" rIns="0">
            <a:spAutoFit/>
          </a:bodyPr>
          <a:lstStyle/>
          <a:p>
            <a:pPr algn="ctr" marL="0" indent="0" lvl="0">
              <a:lnSpc>
                <a:spcPts val="3120"/>
              </a:lnSpc>
            </a:pPr>
            <a:r>
              <a:rPr lang="en-US" sz="2400">
                <a:solidFill>
                  <a:srgbClr val="0A2269"/>
                </a:solidFill>
                <a:latin typeface="Codec Pro"/>
                <a:ea typeface="Codec Pro"/>
                <a:cs typeface="Codec Pro"/>
                <a:sym typeface="Codec Pro"/>
              </a:rPr>
              <a:t>The </a:t>
            </a:r>
            <a:r>
              <a:rPr lang="en-US" b="true" sz="2400">
                <a:solidFill>
                  <a:srgbClr val="0A2269"/>
                </a:solidFill>
                <a:latin typeface="Codec Pro Bold"/>
                <a:ea typeface="Codec Pro Bold"/>
                <a:cs typeface="Codec Pro Bold"/>
                <a:sym typeface="Codec Pro Bold"/>
              </a:rPr>
              <a:t>Weather App Project</a:t>
            </a:r>
            <a:r>
              <a:rPr lang="en-US" sz="2400">
                <a:solidFill>
                  <a:srgbClr val="0A2269"/>
                </a:solidFill>
                <a:latin typeface="Codec Pro"/>
                <a:ea typeface="Codec Pro"/>
                <a:cs typeface="Codec Pro"/>
                <a:sym typeface="Codec Pro"/>
              </a:rPr>
              <a:t> allows beginners to learn how to fetch live weather data through APIs and parse JSON to display valuable information. By making an API request, the app retrieves data such as temperature, humidity, and conditions. Students will gain hands-on experience in handling JSON responses, extracting relevant details, and presenting them in a user-friendly format. This project emphasizes practical skills in programming while introducing key concepts of API interaction and data manipulation.</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0A226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AE9BF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2E30A0"/>
            </a:solidFill>
          </p:spPr>
        </p:sp>
      </p:grpSp>
      <p:sp>
        <p:nvSpPr>
          <p:cNvPr name="TextBox 5" id="5"/>
          <p:cNvSpPr txBox="true"/>
          <p:nvPr/>
        </p:nvSpPr>
        <p:spPr>
          <a:xfrm rot="0">
            <a:off x="2105025" y="3929062"/>
            <a:ext cx="4010025" cy="2371725"/>
          </a:xfrm>
          <a:prstGeom prst="rect">
            <a:avLst/>
          </a:prstGeom>
        </p:spPr>
        <p:txBody>
          <a:bodyPr anchor="t" rtlCol="false" tIns="0" lIns="0" bIns="0" rIns="0">
            <a:spAutoFit/>
          </a:bodyPr>
          <a:lstStyle/>
          <a:p>
            <a:pPr algn="ctr" marL="0" indent="0" lvl="0">
              <a:lnSpc>
                <a:spcPts val="6120"/>
              </a:lnSpc>
            </a:pPr>
            <a:r>
              <a:rPr lang="en-US" b="true" sz="5100" spc="-127">
                <a:solidFill>
                  <a:srgbClr val="0A2269"/>
                </a:solidFill>
                <a:latin typeface="Gatwick Ultra-Bold"/>
                <a:ea typeface="Gatwick Ultra-Bold"/>
                <a:cs typeface="Gatwick Ultra-Bold"/>
                <a:sym typeface="Gatwick Ultra-Bold"/>
              </a:rPr>
              <a:t>Currency Converter API</a:t>
            </a:r>
          </a:p>
        </p:txBody>
      </p:sp>
      <p:grpSp>
        <p:nvGrpSpPr>
          <p:cNvPr name="Group 6" id="6"/>
          <p:cNvGrpSpPr/>
          <p:nvPr/>
        </p:nvGrpSpPr>
        <p:grpSpPr>
          <a:xfrm rot="0">
            <a:off x="6909150" y="1562100"/>
            <a:ext cx="9578625" cy="7162800"/>
            <a:chOff x="0" y="0"/>
            <a:chExt cx="2522765" cy="1886499"/>
          </a:xfrm>
        </p:grpSpPr>
        <p:sp>
          <p:nvSpPr>
            <p:cNvPr name="Freeform 7" id="7"/>
            <p:cNvSpPr/>
            <p:nvPr/>
          </p:nvSpPr>
          <p:spPr>
            <a:xfrm flipH="false" flipV="false" rot="0">
              <a:off x="0" y="0"/>
              <a:ext cx="2522765" cy="1886499"/>
            </a:xfrm>
            <a:custGeom>
              <a:avLst/>
              <a:gdLst/>
              <a:ahLst/>
              <a:cxnLst/>
              <a:rect r="r" b="b" t="t" l="l"/>
              <a:pathLst>
                <a:path h="1886499" w="2522765">
                  <a:moveTo>
                    <a:pt x="40412" y="0"/>
                  </a:moveTo>
                  <a:lnTo>
                    <a:pt x="2482353" y="0"/>
                  </a:lnTo>
                  <a:cubicBezTo>
                    <a:pt x="2493071" y="0"/>
                    <a:pt x="2503350" y="4258"/>
                    <a:pt x="2510929" y="11837"/>
                  </a:cubicBezTo>
                  <a:cubicBezTo>
                    <a:pt x="2518508" y="19415"/>
                    <a:pt x="2522765" y="29694"/>
                    <a:pt x="2522765" y="40412"/>
                  </a:cubicBezTo>
                  <a:lnTo>
                    <a:pt x="2522765" y="1846086"/>
                  </a:lnTo>
                  <a:cubicBezTo>
                    <a:pt x="2522765" y="1856804"/>
                    <a:pt x="2518508" y="1867084"/>
                    <a:pt x="2510929" y="1874662"/>
                  </a:cubicBezTo>
                  <a:cubicBezTo>
                    <a:pt x="2503350" y="1882241"/>
                    <a:pt x="2493071" y="1886499"/>
                    <a:pt x="2482353" y="1886499"/>
                  </a:cubicBezTo>
                  <a:lnTo>
                    <a:pt x="40412" y="1886499"/>
                  </a:lnTo>
                  <a:cubicBezTo>
                    <a:pt x="29694" y="1886499"/>
                    <a:pt x="19415" y="1882241"/>
                    <a:pt x="11837" y="1874662"/>
                  </a:cubicBezTo>
                  <a:cubicBezTo>
                    <a:pt x="4258" y="1867084"/>
                    <a:pt x="0" y="1856804"/>
                    <a:pt x="0" y="1846086"/>
                  </a:cubicBezTo>
                  <a:lnTo>
                    <a:pt x="0" y="40412"/>
                  </a:lnTo>
                  <a:cubicBezTo>
                    <a:pt x="0" y="29694"/>
                    <a:pt x="4258" y="19415"/>
                    <a:pt x="11837" y="11837"/>
                  </a:cubicBezTo>
                  <a:cubicBezTo>
                    <a:pt x="19415" y="4258"/>
                    <a:pt x="29694" y="0"/>
                    <a:pt x="40412" y="0"/>
                  </a:cubicBezTo>
                  <a:close/>
                </a:path>
              </a:pathLst>
            </a:custGeom>
            <a:ln w="38100" cap="rnd">
              <a:solidFill>
                <a:srgbClr val="000000"/>
              </a:solidFill>
              <a:prstDash val="solid"/>
              <a:round/>
            </a:ln>
          </p:spPr>
        </p:sp>
        <p:sp>
          <p:nvSpPr>
            <p:cNvPr name="TextBox 8" id="8"/>
            <p:cNvSpPr txBox="true"/>
            <p:nvPr/>
          </p:nvSpPr>
          <p:spPr>
            <a:xfrm>
              <a:off x="0" y="-66675"/>
              <a:ext cx="2522765"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553325" y="3286125"/>
            <a:ext cx="8290275" cy="3550920"/>
          </a:xfrm>
          <a:prstGeom prst="rect">
            <a:avLst/>
          </a:prstGeom>
        </p:spPr>
        <p:txBody>
          <a:bodyPr anchor="t" rtlCol="false" tIns="0" lIns="0" bIns="0" rIns="0">
            <a:spAutoFit/>
          </a:bodyPr>
          <a:lstStyle/>
          <a:p>
            <a:pPr algn="ctr" marL="0" indent="0" lvl="0">
              <a:lnSpc>
                <a:spcPts val="3120"/>
              </a:lnSpc>
            </a:pPr>
            <a:r>
              <a:rPr lang="en-US" sz="2400">
                <a:solidFill>
                  <a:srgbClr val="0A2269"/>
                </a:solidFill>
                <a:latin typeface="Codec Pro"/>
                <a:ea typeface="Codec Pro"/>
                <a:cs typeface="Codec Pro"/>
                <a:sym typeface="Codec Pro"/>
              </a:rPr>
              <a:t>The </a:t>
            </a:r>
            <a:r>
              <a:rPr lang="en-US" b="true" sz="2400">
                <a:solidFill>
                  <a:srgbClr val="0A2269"/>
                </a:solidFill>
                <a:latin typeface="Codec Pro Bold"/>
                <a:ea typeface="Codec Pro Bold"/>
                <a:cs typeface="Codec Pro Bold"/>
                <a:sym typeface="Codec Pro Bold"/>
              </a:rPr>
              <a:t>Currency Converter API</a:t>
            </a:r>
            <a:r>
              <a:rPr lang="en-US" sz="2400">
                <a:solidFill>
                  <a:srgbClr val="0A2269"/>
                </a:solidFill>
                <a:latin typeface="Codec Pro"/>
                <a:ea typeface="Codec Pro"/>
                <a:cs typeface="Codec Pro"/>
                <a:sym typeface="Codec Pro"/>
              </a:rPr>
              <a:t> enables developers to integrate real-time exchange rates into their applications. By making simple API calls, users can convert currencies effortlessly, making it invaluable for travel apps and finance tools. This API provides accurate data for various currency pairs, allowing for dynamic calculations. With just a few lines of code, programmers can enhance their applications, offering users up-to-date financial information at their fingertips.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226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AE9BF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5563DB"/>
            </a:solidFill>
          </p:spPr>
        </p:sp>
      </p:grpSp>
      <p:grpSp>
        <p:nvGrpSpPr>
          <p:cNvPr name="Group 5" id="5"/>
          <p:cNvGrpSpPr/>
          <p:nvPr/>
        </p:nvGrpSpPr>
        <p:grpSpPr>
          <a:xfrm rot="0">
            <a:off x="7858125" y="1562100"/>
            <a:ext cx="8324850" cy="2752725"/>
            <a:chOff x="0" y="0"/>
            <a:chExt cx="11099800" cy="3670300"/>
          </a:xfrm>
        </p:grpSpPr>
        <p:sp>
          <p:nvSpPr>
            <p:cNvPr name="TextBox 6" id="6"/>
            <p:cNvSpPr txBox="true"/>
            <p:nvPr/>
          </p:nvSpPr>
          <p:spPr>
            <a:xfrm rot="0">
              <a:off x="0" y="-76200"/>
              <a:ext cx="11099800" cy="3098800"/>
            </a:xfrm>
            <a:prstGeom prst="rect">
              <a:avLst/>
            </a:prstGeom>
          </p:spPr>
          <p:txBody>
            <a:bodyPr anchor="t" rtlCol="false" tIns="0" lIns="0" bIns="0" rIns="0">
              <a:spAutoFit/>
            </a:bodyPr>
            <a:lstStyle/>
            <a:p>
              <a:pPr algn="ctr" marL="0" indent="0" lvl="0">
                <a:lnSpc>
                  <a:spcPts val="8999"/>
                </a:lnSpc>
              </a:pPr>
              <a:r>
                <a:rPr lang="en-US" b="true" sz="7499" spc="-187">
                  <a:solidFill>
                    <a:srgbClr val="0A2269"/>
                  </a:solidFill>
                  <a:latin typeface="Gatwick Ultra-Bold"/>
                  <a:ea typeface="Gatwick Ultra-Bold"/>
                  <a:cs typeface="Gatwick Ultra-Bold"/>
                  <a:sym typeface="Gatwick Ultra-Bold"/>
                </a:rPr>
                <a:t>Advantages &amp; Conclusion</a:t>
              </a:r>
            </a:p>
          </p:txBody>
        </p:sp>
        <p:sp>
          <p:nvSpPr>
            <p:cNvPr name="TextBox 7" id="7"/>
            <p:cNvSpPr txBox="true"/>
            <p:nvPr/>
          </p:nvSpPr>
          <p:spPr>
            <a:xfrm rot="0">
              <a:off x="0" y="3110865"/>
              <a:ext cx="11099800" cy="559435"/>
            </a:xfrm>
            <a:prstGeom prst="rect">
              <a:avLst/>
            </a:prstGeom>
          </p:spPr>
          <p:txBody>
            <a:bodyPr anchor="t" rtlCol="false" tIns="0" lIns="0" bIns="0" rIns="0">
              <a:spAutoFit/>
            </a:bodyPr>
            <a:lstStyle/>
            <a:p>
              <a:pPr algn="ctr" marL="0" indent="0" lvl="0">
                <a:lnSpc>
                  <a:spcPts val="3120"/>
                </a:lnSpc>
              </a:pPr>
              <a:r>
                <a:rPr lang="en-US" b="true" sz="2400">
                  <a:solidFill>
                    <a:srgbClr val="0A2269"/>
                  </a:solidFill>
                  <a:latin typeface="Codec Pro Ultra-Bold"/>
                  <a:ea typeface="Codec Pro Ultra-Bold"/>
                  <a:cs typeface="Codec Pro Ultra-Bold"/>
                  <a:sym typeface="Codec Pro Ultra-Bold"/>
                </a:rPr>
                <a:t>The importance of JSON and APIs in programming</a:t>
              </a:r>
            </a:p>
          </p:txBody>
        </p:sp>
      </p:grpSp>
      <p:grpSp>
        <p:nvGrpSpPr>
          <p:cNvPr name="Group 8" id="8"/>
          <p:cNvGrpSpPr/>
          <p:nvPr/>
        </p:nvGrpSpPr>
        <p:grpSpPr>
          <a:xfrm rot="0">
            <a:off x="8991600" y="6038870"/>
            <a:ext cx="6057900" cy="727670"/>
            <a:chOff x="0" y="0"/>
            <a:chExt cx="8077200" cy="970226"/>
          </a:xfrm>
        </p:grpSpPr>
        <p:sp>
          <p:nvSpPr>
            <p:cNvPr name="TextBox 9" id="9"/>
            <p:cNvSpPr txBox="true"/>
            <p:nvPr/>
          </p:nvSpPr>
          <p:spPr>
            <a:xfrm rot="0">
              <a:off x="0" y="-38100"/>
              <a:ext cx="8077200" cy="520700"/>
            </a:xfrm>
            <a:prstGeom prst="rect">
              <a:avLst/>
            </a:prstGeom>
          </p:spPr>
          <p:txBody>
            <a:bodyPr anchor="t" rtlCol="false" tIns="0" lIns="0" bIns="0" rIns="0">
              <a:spAutoFit/>
            </a:bodyPr>
            <a:lstStyle/>
            <a:p>
              <a:pPr algn="ctr" marL="0" indent="0" lvl="0">
                <a:lnSpc>
                  <a:spcPts val="2880"/>
                </a:lnSpc>
              </a:pPr>
              <a:r>
                <a:rPr lang="en-US" b="true" sz="2400">
                  <a:solidFill>
                    <a:srgbClr val="0A2269"/>
                  </a:solidFill>
                  <a:latin typeface="Codec Pro Ultra-Bold"/>
                  <a:ea typeface="Codec Pro Ultra-Bold"/>
                  <a:cs typeface="Codec Pro Ultra-Bold"/>
                  <a:sym typeface="Codec Pro Ultra-Bold"/>
                </a:rPr>
                <a:t>EMAIL</a:t>
              </a:r>
            </a:p>
          </p:txBody>
        </p:sp>
        <p:sp>
          <p:nvSpPr>
            <p:cNvPr name="TextBox 10" id="10"/>
            <p:cNvSpPr txBox="true"/>
            <p:nvPr/>
          </p:nvSpPr>
          <p:spPr>
            <a:xfrm rot="0">
              <a:off x="0" y="449526"/>
              <a:ext cx="8077200" cy="520700"/>
            </a:xfrm>
            <a:prstGeom prst="rect">
              <a:avLst/>
            </a:prstGeom>
          </p:spPr>
          <p:txBody>
            <a:bodyPr anchor="t" rtlCol="false" tIns="0" lIns="0" bIns="0" rIns="0">
              <a:spAutoFit/>
            </a:bodyPr>
            <a:lstStyle/>
            <a:p>
              <a:pPr algn="ctr" marL="0" indent="0" lvl="0">
                <a:lnSpc>
                  <a:spcPts val="2880"/>
                </a:lnSpc>
              </a:pPr>
              <a:r>
                <a:rPr lang="en-US" sz="2400">
                  <a:solidFill>
                    <a:srgbClr val="0A2269"/>
                  </a:solidFill>
                  <a:latin typeface="Codec Pro"/>
                  <a:ea typeface="Codec Pro"/>
                  <a:cs typeface="Codec Pro"/>
                  <a:sym typeface="Codec Pro"/>
                </a:rPr>
                <a:t>hello@reallygreatsite.com</a:t>
              </a:r>
            </a:p>
          </p:txBody>
        </p:sp>
      </p:grpSp>
      <p:grpSp>
        <p:nvGrpSpPr>
          <p:cNvPr name="Group 11" id="11"/>
          <p:cNvGrpSpPr/>
          <p:nvPr/>
        </p:nvGrpSpPr>
        <p:grpSpPr>
          <a:xfrm rot="0">
            <a:off x="8991600" y="7018060"/>
            <a:ext cx="6057900" cy="727670"/>
            <a:chOff x="0" y="0"/>
            <a:chExt cx="8077200" cy="970226"/>
          </a:xfrm>
        </p:grpSpPr>
        <p:sp>
          <p:nvSpPr>
            <p:cNvPr name="TextBox 12" id="12"/>
            <p:cNvSpPr txBox="true"/>
            <p:nvPr/>
          </p:nvSpPr>
          <p:spPr>
            <a:xfrm rot="0">
              <a:off x="0" y="-38100"/>
              <a:ext cx="8077200" cy="520700"/>
            </a:xfrm>
            <a:prstGeom prst="rect">
              <a:avLst/>
            </a:prstGeom>
          </p:spPr>
          <p:txBody>
            <a:bodyPr anchor="t" rtlCol="false" tIns="0" lIns="0" bIns="0" rIns="0">
              <a:spAutoFit/>
            </a:bodyPr>
            <a:lstStyle/>
            <a:p>
              <a:pPr algn="ctr" marL="0" indent="0" lvl="0">
                <a:lnSpc>
                  <a:spcPts val="2880"/>
                </a:lnSpc>
              </a:pPr>
              <a:r>
                <a:rPr lang="en-US" b="true" sz="2400">
                  <a:solidFill>
                    <a:srgbClr val="0A2269"/>
                  </a:solidFill>
                  <a:latin typeface="Codec Pro Ultra-Bold"/>
                  <a:ea typeface="Codec Pro Ultra-Bold"/>
                  <a:cs typeface="Codec Pro Ultra-Bold"/>
                  <a:sym typeface="Codec Pro Ultra-Bold"/>
                </a:rPr>
                <a:t>PHONE</a:t>
              </a:r>
            </a:p>
          </p:txBody>
        </p:sp>
        <p:sp>
          <p:nvSpPr>
            <p:cNvPr name="TextBox 13" id="13"/>
            <p:cNvSpPr txBox="true"/>
            <p:nvPr/>
          </p:nvSpPr>
          <p:spPr>
            <a:xfrm rot="0">
              <a:off x="0" y="449526"/>
              <a:ext cx="8077200" cy="520700"/>
            </a:xfrm>
            <a:prstGeom prst="rect">
              <a:avLst/>
            </a:prstGeom>
          </p:spPr>
          <p:txBody>
            <a:bodyPr anchor="t" rtlCol="false" tIns="0" lIns="0" bIns="0" rIns="0">
              <a:spAutoFit/>
            </a:bodyPr>
            <a:lstStyle/>
            <a:p>
              <a:pPr algn="ctr" marL="0" indent="0" lvl="0">
                <a:lnSpc>
                  <a:spcPts val="2880"/>
                </a:lnSpc>
              </a:pPr>
              <a:r>
                <a:rPr lang="en-US" sz="2400">
                  <a:solidFill>
                    <a:srgbClr val="0A2269"/>
                  </a:solidFill>
                  <a:latin typeface="Codec Pro"/>
                  <a:ea typeface="Codec Pro"/>
                  <a:cs typeface="Codec Pro"/>
                  <a:sym typeface="Codec Pro"/>
                </a:rPr>
                <a:t>123-456-7890</a:t>
              </a:r>
            </a:p>
          </p:txBody>
        </p:sp>
      </p:grpSp>
      <p:grpSp>
        <p:nvGrpSpPr>
          <p:cNvPr name="Group 14" id="14"/>
          <p:cNvGrpSpPr/>
          <p:nvPr/>
        </p:nvGrpSpPr>
        <p:grpSpPr>
          <a:xfrm rot="0">
            <a:off x="8991600" y="7997244"/>
            <a:ext cx="6057900" cy="727670"/>
            <a:chOff x="0" y="0"/>
            <a:chExt cx="8077200" cy="970226"/>
          </a:xfrm>
        </p:grpSpPr>
        <p:sp>
          <p:nvSpPr>
            <p:cNvPr name="TextBox 15" id="15"/>
            <p:cNvSpPr txBox="true"/>
            <p:nvPr/>
          </p:nvSpPr>
          <p:spPr>
            <a:xfrm rot="0">
              <a:off x="0" y="-38100"/>
              <a:ext cx="8077200" cy="520700"/>
            </a:xfrm>
            <a:prstGeom prst="rect">
              <a:avLst/>
            </a:prstGeom>
          </p:spPr>
          <p:txBody>
            <a:bodyPr anchor="t" rtlCol="false" tIns="0" lIns="0" bIns="0" rIns="0">
              <a:spAutoFit/>
            </a:bodyPr>
            <a:lstStyle/>
            <a:p>
              <a:pPr algn="ctr" marL="0" indent="0" lvl="0">
                <a:lnSpc>
                  <a:spcPts val="2880"/>
                </a:lnSpc>
                <a:spcBef>
                  <a:spcPct val="0"/>
                </a:spcBef>
              </a:pPr>
              <a:r>
                <a:rPr lang="en-US" b="true" sz="2400" strike="noStrike" u="none">
                  <a:solidFill>
                    <a:srgbClr val="0A2269"/>
                  </a:solidFill>
                  <a:latin typeface="Codec Pro Ultra-Bold"/>
                  <a:ea typeface="Codec Pro Ultra-Bold"/>
                  <a:cs typeface="Codec Pro Ultra-Bold"/>
                  <a:sym typeface="Codec Pro Ultra-Bold"/>
                </a:rPr>
                <a:t>SOCIAL MEDIA</a:t>
              </a:r>
            </a:p>
          </p:txBody>
        </p:sp>
        <p:sp>
          <p:nvSpPr>
            <p:cNvPr name="TextBox 16" id="16"/>
            <p:cNvSpPr txBox="true"/>
            <p:nvPr/>
          </p:nvSpPr>
          <p:spPr>
            <a:xfrm rot="0">
              <a:off x="0" y="449526"/>
              <a:ext cx="8077200" cy="520700"/>
            </a:xfrm>
            <a:prstGeom prst="rect">
              <a:avLst/>
            </a:prstGeom>
          </p:spPr>
          <p:txBody>
            <a:bodyPr anchor="t" rtlCol="false" tIns="0" lIns="0" bIns="0" rIns="0">
              <a:spAutoFit/>
            </a:bodyPr>
            <a:lstStyle/>
            <a:p>
              <a:pPr algn="ctr" marL="0" indent="0" lvl="0">
                <a:lnSpc>
                  <a:spcPts val="2880"/>
                </a:lnSpc>
              </a:pPr>
              <a:r>
                <a:rPr lang="en-US" sz="2400">
                  <a:solidFill>
                    <a:srgbClr val="0A2269"/>
                  </a:solidFill>
                  <a:latin typeface="Codec Pro"/>
                  <a:ea typeface="Codec Pro"/>
                  <a:cs typeface="Codec Pro"/>
                  <a:sym typeface="Codec Pro"/>
                </a:rPr>
                <a:t>@reallygreatsite</a:t>
              </a:r>
            </a:p>
          </p:txBody>
        </p:sp>
      </p:grpSp>
      <p:sp>
        <p:nvSpPr>
          <p:cNvPr name="Freeform 17" id="17"/>
          <p:cNvSpPr/>
          <p:nvPr/>
        </p:nvSpPr>
        <p:spPr>
          <a:xfrm flipH="false" flipV="false" rot="5400000">
            <a:off x="727580" y="2266950"/>
            <a:ext cx="7158835" cy="5753100"/>
          </a:xfrm>
          <a:custGeom>
            <a:avLst/>
            <a:gdLst/>
            <a:ahLst/>
            <a:cxnLst/>
            <a:rect r="r" b="b" t="t" l="l"/>
            <a:pathLst>
              <a:path h="5753100" w="7158835">
                <a:moveTo>
                  <a:pt x="0" y="0"/>
                </a:moveTo>
                <a:lnTo>
                  <a:pt x="7158835" y="0"/>
                </a:lnTo>
                <a:lnTo>
                  <a:pt x="7158835" y="5753100"/>
                </a:lnTo>
                <a:lnTo>
                  <a:pt x="0" y="5753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JSON and API Using Python</dc:description>
  <dc:identifier>DAHE8o1aqnQ</dc:identifier>
  <dcterms:modified xsi:type="dcterms:W3CDTF">2011-08-01T06:04:30Z</dcterms:modified>
  <cp:revision>1</cp:revision>
  <dc:title>Presentation - JSON and API Using Python</dc:title>
</cp:coreProperties>
</file>